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4AA3FF"/>
                </a:solidFill>
              </a:defRPr>
            </a:pPr>
            <a:r>
              <a:t>QueryForge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</a:defRPr>
            </a:pPr>
            <a:r>
              <a:t>AI 商业数据分析智能体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8B949E"/>
                </a:solidFill>
              </a:defRPr>
            </a:pPr>
            <a:r>
              <a:t>自然语言提问 → AI 生成 SQL → 实时可视化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303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B949E"/>
                </a:solidFill>
              </a:defRPr>
            </a:pPr>
            <a:r>
              <a:t>ClawHunt Builder Camp 2026 · Track A: Agents at 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痛点：数据分析的鸿沟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029200" cy="1828800"/>
          </a:xfrm>
          <a:prstGeom prst="roundRect">
            <a:avLst/>
          </a:prstGeom>
          <a:solidFill>
            <a:srgbClr val="13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4389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业务人员的困境</a:t>
            </a:r>
            <a:br/>
            <a:br/>
            <a:r>
              <a:t>• 不会 SQL，依赖数据团队排队</a:t>
            </a:r>
            <a:br/>
            <a:r>
              <a:t>• Excel 手动分析耗时数小时</a:t>
            </a:r>
            <a:br/>
            <a:r>
              <a:t>• 临时汇报需求无法快速响应</a:t>
            </a:r>
            <a:br/>
            <a:r>
              <a:t>• 数据散落，缺乏统一视图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645920"/>
            <a:ext cx="5029200" cy="1828800"/>
          </a:xfrm>
          <a:prstGeom prst="roundRect">
            <a:avLst/>
          </a:prstGeom>
          <a:solidFill>
            <a:srgbClr val="13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1828800"/>
            <a:ext cx="4389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现有工具的不足</a:t>
            </a:r>
            <a:br/>
            <a:br/>
            <a:r>
              <a:t>• BI 工具太重，学习成本高</a:t>
            </a:r>
            <a:br/>
            <a:r>
              <a:t>• 传统报表不支持自然语言</a:t>
            </a:r>
            <a:br/>
            <a:r>
              <a:t>• 关键词匹配 ≠ 真正的 AI</a:t>
            </a:r>
            <a:br/>
            <a:r>
              <a:t>• 单点故障，无容错机制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9D3C5"/>
                </a:solidFill>
              </a:defRPr>
            </a:pPr>
            <a:r>
              <a:t>QueryForge 的回答：让 AI 理解你的问题，自动生成查询，实时返回可视化结果。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工作原理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2011680" cy="2743200"/>
          </a:xfrm>
          <a:prstGeom prst="roundRect">
            <a:avLst/>
          </a:prstGeom>
          <a:solidFill>
            <a:srgbClr val="13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AA3FF"/>
                </a:solidFill>
              </a:defRPr>
            </a:pPr>
            <a:r>
              <a:t>1. 自然语言提问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645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B949E"/>
                </a:solidFill>
              </a:defRPr>
            </a:pPr>
            <a:r>
              <a:t>用户用中文描述需求</a:t>
            </a:r>
            <a:br/>
            <a:r>
              <a:t>"最近三个月哪个品类增长最快？"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1645920"/>
            <a:ext cx="2011680" cy="2743200"/>
          </a:xfrm>
          <a:prstGeom prst="roundRect">
            <a:avLst/>
          </a:prstGeom>
          <a:solidFill>
            <a:srgbClr val="13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0" y="18288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AA3FF"/>
                </a:solidFill>
              </a:defRPr>
            </a:pPr>
            <a:r>
              <a:t>2. AI 理解意图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2468880"/>
            <a:ext cx="1645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B949E"/>
                </a:solidFill>
              </a:defRPr>
            </a:pPr>
            <a:r>
              <a:t>MiMo v2.5 Pro 分析问题</a:t>
            </a:r>
            <a:br/>
            <a:r>
              <a:t>识别维度、指标、时间范围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1645920"/>
            <a:ext cx="2011680" cy="2743200"/>
          </a:xfrm>
          <a:prstGeom prst="roundRect">
            <a:avLst/>
          </a:prstGeom>
          <a:solidFill>
            <a:srgbClr val="13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0" y="18288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AA3FF"/>
                </a:solidFill>
              </a:defRPr>
            </a:pPr>
            <a:r>
              <a:t>3. 生成 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468880"/>
            <a:ext cx="1645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B949E"/>
                </a:solidFill>
              </a:defRPr>
            </a:pPr>
            <a:r>
              <a:t>AI 自动生成 SQLite 查询</a:t>
            </a:r>
            <a:br/>
            <a:r>
              <a:t>AST 解析器校验安全性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1645920"/>
            <a:ext cx="2011680" cy="2743200"/>
          </a:xfrm>
          <a:prstGeom prst="roundRect">
            <a:avLst/>
          </a:prstGeom>
          <a:solidFill>
            <a:srgbClr val="13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18288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AA3FF"/>
                </a:solidFill>
              </a:defRPr>
            </a:pPr>
            <a:r>
              <a:t>4. 执行 + 可视化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2468880"/>
            <a:ext cx="1645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B949E"/>
                </a:solidFill>
              </a:defRPr>
            </a:pPr>
            <a:r>
              <a:t>查询数据库，生成图表</a:t>
            </a:r>
            <a:br/>
            <a:r>
              <a:t>支持柱状/折线/饼图/面积图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01200" y="1645920"/>
            <a:ext cx="2011680" cy="2743200"/>
          </a:xfrm>
          <a:prstGeom prst="roundRect">
            <a:avLst/>
          </a:prstGeom>
          <a:solidFill>
            <a:srgbClr val="13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0" y="18288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AA3FF"/>
                </a:solidFill>
              </a:defRPr>
            </a:pPr>
            <a:r>
              <a:t>5. 自纠正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0" y="2468880"/>
            <a:ext cx="1645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B949E"/>
                </a:solidFill>
              </a:defRPr>
            </a:pPr>
            <a:r>
              <a:t>SQL 报错时自动修正</a:t>
            </a:r>
            <a:br/>
            <a:r>
              <a:t>向用户展示修正过程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0292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B949E"/>
                </a:solidFill>
              </a:defRPr>
            </a:pPr>
            <a:r>
              <a:t>关键技术：Vercel AI SDK + better-sqlite3 + node-sql-parser + Recharts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现场演示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515600" cy="4114800"/>
          </a:xfrm>
          <a:prstGeom prst="roundRect">
            <a:avLst/>
          </a:prstGeom>
          <a:solidFill>
            <a:srgbClr val="13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9601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演示流程（3 分钟）</a:t>
            </a:r>
            <a:br/>
            <a:br/>
            <a:r>
              <a:t>① 点击预设查询 → 展示 AI 生成 SQL + 图表（30秒）</a:t>
            </a:r>
            <a:br/>
            <a:r>
              <a:t>② 自由提问 → "最近三个月哪个品类增长最快"（45秒）</a:t>
            </a:r>
            <a:br/>
            <a:r>
              <a:t>③ 保存指标 → 侧边栏复用 → 仪表盘多图联动（30秒）</a:t>
            </a:r>
            <a:br/>
            <a:r>
              <a:t>④ 商业数据透视 → 8 个 KPI 指标卡 + 6 个图表面板（30秒）</a:t>
            </a:r>
            <a:br/>
            <a:r>
              <a:t>⑤ 自纠正演示 → 故意触发 SQL 错误，展示自动修正（30秒）</a:t>
            </a:r>
            <a:br/>
            <a:br/>
            <a:r>
              <a:t>核心亮点：每一个查询都是 AI 实时推理，不是预设模板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4AA3FF"/>
                </a:solidFill>
              </a:defRPr>
            </a:pPr>
            <a:r>
              <a:t>产品地址：queryforge-production-8d6f.up.railway.app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商业数据透视面板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2560320" cy="1371600"/>
          </a:xfrm>
          <a:prstGeom prst="roundRect">
            <a:avLst/>
          </a:prstGeom>
          <a:solidFill>
            <a:srgbClr val="13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</a:defRPr>
            </a:pPr>
            <a:r>
              <a:t>总营收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488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4AA3FF"/>
                </a:solidFill>
              </a:defRPr>
            </a:pPr>
            <a:r>
              <a:t>¥23,256万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949E"/>
                </a:solidFill>
              </a:defRPr>
            </a:pPr>
            <a:r>
              <a:t>30个月累计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0" y="1645920"/>
            <a:ext cx="2560320" cy="1371600"/>
          </a:xfrm>
          <a:prstGeom prst="roundRect">
            <a:avLst/>
          </a:prstGeom>
          <a:solidFill>
            <a:srgbClr val="13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49040" y="17830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</a:defRPr>
            </a:pPr>
            <a:r>
              <a:t>客单价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40" y="21488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4AA3FF"/>
                </a:solidFill>
              </a:defRPr>
            </a:pPr>
            <a:r>
              <a:t>¥23,256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40" y="26517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949E"/>
                </a:solidFill>
              </a:defRPr>
            </a:pPr>
            <a:r>
              <a:t>平均每单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645920"/>
            <a:ext cx="2560320" cy="1371600"/>
          </a:xfrm>
          <a:prstGeom prst="roundRect">
            <a:avLst/>
          </a:prstGeom>
          <a:solidFill>
            <a:srgbClr val="13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7830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</a:defRPr>
            </a:pPr>
            <a:r>
              <a:t>毛利率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1488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4AA3FF"/>
                </a:solidFill>
              </a:defRPr>
            </a:pPr>
            <a:r>
              <a:t>46.7%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6517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949E"/>
                </a:solidFill>
              </a:defRPr>
            </a:pPr>
            <a:r>
              <a:t>全品类均值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35440" y="1645920"/>
            <a:ext cx="2560320" cy="1371600"/>
          </a:xfrm>
          <a:prstGeom prst="roundRect">
            <a:avLst/>
          </a:prstGeom>
          <a:solidFill>
            <a:srgbClr val="13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0" y="17830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</a:defRPr>
            </a:pPr>
            <a:r>
              <a:t>复购率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21488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4AA3FF"/>
                </a:solidFill>
              </a:defRPr>
            </a:pPr>
            <a:r>
              <a:t>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6517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949E"/>
                </a:solidFill>
              </a:defRPr>
            </a:pPr>
            <a:r>
              <a:t>人均10单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291840"/>
            <a:ext cx="2560320" cy="1371600"/>
          </a:xfrm>
          <a:prstGeom prst="roundRect">
            <a:avLst/>
          </a:prstGeom>
          <a:solidFill>
            <a:srgbClr val="13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4290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</a:defRPr>
            </a:pPr>
            <a:r>
              <a:t>完成率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7947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4AA3FF"/>
                </a:solidFill>
              </a:defRPr>
            </a:pPr>
            <a:r>
              <a:t>66.5%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29768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949E"/>
                </a:solidFill>
              </a:defRPr>
            </a:pPr>
            <a:r>
              <a:t>6,650单完成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66160" y="3291840"/>
            <a:ext cx="2560320" cy="1371600"/>
          </a:xfrm>
          <a:prstGeom prst="roundRect">
            <a:avLst/>
          </a:prstGeom>
          <a:solidFill>
            <a:srgbClr val="13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49040" y="34290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</a:defRPr>
            </a:pPr>
            <a:r>
              <a:t>退款率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40" y="37947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4AA3FF"/>
                </a:solidFill>
              </a:defRPr>
            </a:pPr>
            <a:r>
              <a:t>16.6%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40" y="429768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949E"/>
                </a:solidFill>
              </a:defRPr>
            </a:pPr>
            <a:r>
              <a:t>1,664单退款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0" y="3291840"/>
            <a:ext cx="2560320" cy="1371600"/>
          </a:xfrm>
          <a:prstGeom prst="roundRect">
            <a:avLst/>
          </a:prstGeom>
          <a:solidFill>
            <a:srgbClr val="13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34290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</a:defRPr>
            </a:pPr>
            <a:r>
              <a:t>连带率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37947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4AA3FF"/>
                </a:solidFill>
              </a:defRPr>
            </a:pPr>
            <a:r>
              <a:t>2.5件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429768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949E"/>
                </a:solidFill>
              </a:defRPr>
            </a:pPr>
            <a:r>
              <a:t>每单平均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235440" y="3291840"/>
            <a:ext cx="2560320" cy="1371600"/>
          </a:xfrm>
          <a:prstGeom prst="roundRect">
            <a:avLst/>
          </a:prstGeom>
          <a:solidFill>
            <a:srgbClr val="13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18320" y="34290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</a:defRPr>
            </a:pPr>
            <a:r>
              <a:t>活跃买家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0" y="37947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4AA3FF"/>
                </a:solidFill>
              </a:defRPr>
            </a:pPr>
            <a:r>
              <a:t>1,000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429768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949E"/>
                </a:solidFill>
              </a:defRPr>
            </a:pPr>
            <a:r>
              <a:t>覆盖20品类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303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B949E"/>
                </a:solidFill>
              </a:defRPr>
            </a:pPr>
            <a:r>
              <a:t>全部数据来自真实 SQLite 数据库（10,000 订单 · 500 商品 · 1,000 用户 · 8 地区 · 20 品类）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五方对抗审查体系（QUINTE）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029200" cy="4114800"/>
          </a:xfrm>
          <a:prstGeom prst="roundRect">
            <a:avLst/>
          </a:prstGeom>
          <a:solidFill>
            <a:srgbClr val="13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审查流程</a:t>
            </a:r>
            <a:br/>
            <a:br/>
            <a:r>
              <a:t>R1 独立分析</a:t>
            </a:r>
            <a:br/>
            <a:r>
              <a:t>5 个 AI 智能体各自独立审查</a:t>
            </a:r>
            <a:br/>
            <a:r>
              <a:t>互不通信，避免群体思维</a:t>
            </a:r>
            <a:br/>
            <a:br/>
            <a:r>
              <a:t>R2 交叉审查</a:t>
            </a:r>
            <a:br/>
            <a:r>
              <a:t>5 个智能体匿名审查其他 4 个</a:t>
            </a:r>
            <a:br/>
            <a:r>
              <a:t>标记共识、分歧和盲区</a:t>
            </a:r>
            <a:br/>
            <a:br/>
            <a:r>
              <a:t>R3 双路裁决</a:t>
            </a:r>
            <a:br/>
            <a:r>
              <a:t>人类 + 独立审计方共同裁决</a:t>
            </a:r>
            <a:br/>
            <a:r>
              <a:t>产出残差闭环账本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645920"/>
            <a:ext cx="5029200" cy="4114800"/>
          </a:xfrm>
          <a:prstGeom prst="roundRect">
            <a:avLst/>
          </a:prstGeom>
          <a:solidFill>
            <a:srgbClr val="13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182880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实际成果</a:t>
            </a:r>
            <a:br/>
            <a:br/>
            <a:r>
              <a:t>3 轮审查 × 5 方 = 39 份独立报告</a:t>
            </a:r>
            <a:br/>
            <a:br/>
            <a:r>
              <a:t>发现 5 个 P0 级缺陷并修复</a:t>
            </a:r>
            <a:br/>
            <a:r>
              <a:t>• MetricSidebar 保存流程断裂</a:t>
            </a:r>
            <a:br/>
            <a:r>
              <a:t>• LLM 无超时机制</a:t>
            </a:r>
            <a:br/>
            <a:r>
              <a:t>• 无离线 fallback</a:t>
            </a:r>
            <a:br/>
            <a:r>
              <a:t>• 图表标题共享 bug</a:t>
            </a:r>
            <a:br/>
            <a:r>
              <a:t>• DB 连接不一致</a:t>
            </a:r>
            <a:br/>
            <a:br/>
            <a:r>
              <a:t>成本：约 ¥5（小米 MiMo token plan）</a:t>
            </a:r>
            <a:br/>
            <a:r>
              <a:t>对比人工 Code Review：¥5,000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技术架构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474720" cy="1828800"/>
          </a:xfrm>
          <a:prstGeom prst="roundRect">
            <a:avLst/>
          </a:prstGeom>
          <a:solidFill>
            <a:srgbClr val="13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AA3FF"/>
                </a:solidFill>
              </a:defRPr>
            </a:pPr>
            <a:r>
              <a:t>前端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</a:defRPr>
            </a:pPr>
            <a:r>
              <a:t>Next.js 14 · Tailwind CSS · Recharts</a:t>
            </a:r>
            <a:br/>
            <a:r>
              <a:t>响应式设计 · 深色/浅色主题变量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59" y="1645920"/>
            <a:ext cx="3474720" cy="1828800"/>
          </a:xfrm>
          <a:prstGeom prst="roundRect">
            <a:avLst/>
          </a:prstGeom>
          <a:solidFill>
            <a:srgbClr val="13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79" y="1828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AA3FF"/>
                </a:solidFill>
              </a:defRPr>
            </a:pPr>
            <a:r>
              <a:t>后端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79" y="228600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</a:defRPr>
            </a:pPr>
            <a:r>
              <a:t>Next.js API Routes · better-sqlite3</a:t>
            </a:r>
            <a:br/>
            <a:r>
              <a:t>SQL AST 解析安全校验 · 自动 LIMIT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645920"/>
            <a:ext cx="3474720" cy="1828800"/>
          </a:xfrm>
          <a:prstGeom prst="roundRect">
            <a:avLst/>
          </a:prstGeom>
          <a:solidFill>
            <a:srgbClr val="13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0" y="1828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AA3FF"/>
                </a:solidFill>
              </a:defRPr>
            </a:pPr>
            <a:r>
              <a:t>AI 引擎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28600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</a:defRPr>
            </a:pPr>
            <a:r>
              <a:t>MiMo v2.5 Pro（小米自研）</a:t>
            </a:r>
            <a:br/>
            <a:r>
              <a:t>Vercel AI SDK · 自纠正循环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3474720" cy="1828800"/>
          </a:xfrm>
          <a:prstGeom prst="roundRect">
            <a:avLst/>
          </a:prstGeom>
          <a:solidFill>
            <a:srgbClr val="13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114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AA3FF"/>
                </a:solidFill>
              </a:defRPr>
            </a:pPr>
            <a:r>
              <a:t>部署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</a:defRPr>
            </a:pPr>
            <a:r>
              <a:t>Railway（云端 24/7 在线）</a:t>
            </a:r>
            <a:br/>
            <a:r>
              <a:t>不依赖本机 · 自定义域名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59" y="3931920"/>
            <a:ext cx="3474720" cy="1828800"/>
          </a:xfrm>
          <a:prstGeom prst="roundRect">
            <a:avLst/>
          </a:prstGeom>
          <a:solidFill>
            <a:srgbClr val="13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79" y="4114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AA3FF"/>
                </a:solidFill>
              </a:defRPr>
            </a:pPr>
            <a:r>
              <a:t>审查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79" y="457200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</a:defRPr>
            </a:pPr>
            <a:r>
              <a:t>QUINTE 五方对抗协议</a:t>
            </a:r>
            <a:br/>
            <a:r>
              <a:t>5 CLI 智能体 × 3 轮 = 39 份报告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3931920"/>
            <a:ext cx="3474720" cy="1828800"/>
          </a:xfrm>
          <a:prstGeom prst="roundRect">
            <a:avLst/>
          </a:prstGeom>
          <a:solidFill>
            <a:srgbClr val="13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0" y="4114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AA3FF"/>
                </a:solidFill>
              </a:defRPr>
            </a:pPr>
            <a:r>
              <a:t>数据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457200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</a:defRPr>
            </a:pPr>
            <a:r>
              <a:t>10K 订单 · 500 商品 · 1K 用户</a:t>
            </a:r>
            <a:br/>
            <a:r>
              <a:t>8 地区 · 20 品类 · 6 渠道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评分预估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515600" cy="548640"/>
          </a:xfrm>
          <a:prstGeom prst="roundRect">
            <a:avLst/>
          </a:prstGeom>
          <a:solidFill>
            <a:srgbClr val="13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B949E"/>
                </a:solidFill>
              </a:defRPr>
            </a:pPr>
            <a:r>
              <a:t>维度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15087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8B949E"/>
                </a:solidFill>
              </a:defRPr>
            </a:pPr>
            <a:r>
              <a:t>满分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15087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8B949E"/>
                </a:solidFill>
              </a:defRPr>
            </a:pPr>
            <a:r>
              <a:t>预估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5087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B949E"/>
                </a:solidFill>
              </a:defRPr>
            </a:pPr>
            <a:r>
              <a:t>依据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48840"/>
            <a:ext cx="10515600" cy="502920"/>
          </a:xfrm>
          <a:prstGeom prst="roundRect">
            <a:avLst/>
          </a:prstGeom>
          <a:solidFill>
            <a:srgbClr val="13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194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Demo 现场可用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1945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B949E"/>
                </a:solidFill>
              </a:defRPr>
            </a:pPr>
            <a:r>
              <a:t>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1945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9D3C5"/>
                </a:solidFill>
              </a:defRPr>
            </a:pPr>
            <a:r>
              <a:t>20-22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</a:defRPr>
            </a:pPr>
            <a:r>
              <a:t>公网部署 + 缓存 fallback + 自纠正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743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用户价值/PMF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27432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B949E"/>
                </a:solidFill>
              </a:defRPr>
            </a:pPr>
            <a:r>
              <a:t>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743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9D3C5"/>
                </a:solidFill>
              </a:defRPr>
            </a:pPr>
            <a:r>
              <a:t>16-18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27432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</a:defRPr>
            </a:pPr>
            <a:r>
              <a:t>真实痛点 + 自然语言接口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246120"/>
            <a:ext cx="10515600" cy="502920"/>
          </a:xfrm>
          <a:prstGeom prst="roundRect">
            <a:avLst/>
          </a:prstGeom>
          <a:solidFill>
            <a:srgbClr val="13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29183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技术实现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291839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B949E"/>
                </a:solidFill>
              </a:defRPr>
            </a:pPr>
            <a:r>
              <a:t>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291839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9D3C5"/>
                </a:solidFill>
              </a:defRPr>
            </a:pPr>
            <a:r>
              <a:t>16-18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3291839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</a:defRPr>
            </a:pPr>
            <a:r>
              <a:t>AI SDK + AST 校验 + 对抗审查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84047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创新性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3840479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B949E"/>
                </a:solidFill>
              </a:defRPr>
            </a:pPr>
            <a:r>
              <a:t>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3840479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9D3C5"/>
                </a:solidFill>
              </a:defRPr>
            </a:pPr>
            <a:r>
              <a:t>11-13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3840479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</a:defRPr>
            </a:pPr>
            <a:r>
              <a:t>自纠正循环 + QUINTE 方法论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343400"/>
            <a:ext cx="10515600" cy="502920"/>
          </a:xfrm>
          <a:prstGeom prst="roundRect">
            <a:avLst/>
          </a:prstGeom>
          <a:solidFill>
            <a:srgbClr val="13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3891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商业潜力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43891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B949E"/>
                </a:solidFill>
              </a:defRPr>
            </a:pPr>
            <a:r>
              <a:t>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43891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9D3C5"/>
                </a:solidFill>
              </a:defRPr>
            </a:pPr>
            <a:r>
              <a:t>7-8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0" y="43891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</a:defRPr>
            </a:pPr>
            <a:r>
              <a:t>SaaS 模式 + 真实数据 demo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49377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路演表达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49377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B949E"/>
                </a:solidFill>
              </a:defRPr>
            </a:pPr>
            <a: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0" y="49377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9D3C5"/>
                </a:solidFill>
              </a:defRPr>
            </a:pPr>
            <a:r>
              <a:t>8-9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4937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</a:defRPr>
            </a:pPr>
            <a:r>
              <a:t>故事线 + 排练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5440680"/>
            <a:ext cx="10515600" cy="502920"/>
          </a:xfrm>
          <a:prstGeom prst="roundRect">
            <a:avLst/>
          </a:prstGeom>
          <a:solidFill>
            <a:srgbClr val="13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486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加分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0" y="5486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B949E"/>
                </a:solidFill>
              </a:defRPr>
            </a:pPr>
            <a:r>
              <a:t>+5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5486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9D3C5"/>
                </a:solidFill>
              </a:defRPr>
            </a:pPr>
            <a:r>
              <a:t>+3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54864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</a:defRPr>
            </a:pPr>
            <a:r>
              <a:t>ClawHunt 上架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5943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7D74D"/>
                </a:solidFill>
              </a:defRPr>
            </a:pPr>
            <a:r>
              <a:t>总预估：87-96/105 + 3 加分 = 90-99/105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商业潜力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029200" cy="4114800"/>
          </a:xfrm>
          <a:prstGeom prst="roundRect">
            <a:avLst/>
          </a:prstGeom>
          <a:solidFill>
            <a:srgbClr val="13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市场规模</a:t>
            </a:r>
            <a:br/>
            <a:br/>
            <a:r>
              <a:t>• 中国 BI 市场规模：¥200亿+（2025）</a:t>
            </a:r>
            <a:br/>
            <a:r>
              <a:t>• 中小企业数据分析渗透率 &lt; 15%</a:t>
            </a:r>
            <a:br/>
            <a:r>
              <a:t>• 自然语言 BI 是下一代趋势</a:t>
            </a:r>
            <a:br/>
            <a:br/>
            <a:r>
              <a:t>目标用户</a:t>
            </a:r>
            <a:br/>
            <a:r>
              <a:t>• 运营/销售管理者（不会 SQL）</a:t>
            </a:r>
            <a:br/>
            <a:r>
              <a:t>• 数据分析师（加速探索）</a:t>
            </a:r>
            <a:br/>
            <a:r>
              <a:t>• 中小企业老板（快速决策）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645920"/>
            <a:ext cx="5029200" cy="4114800"/>
          </a:xfrm>
          <a:prstGeom prst="roundRect">
            <a:avLst/>
          </a:prstGeom>
          <a:solidFill>
            <a:srgbClr val="13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182880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商业模式</a:t>
            </a:r>
            <a:br/>
            <a:br/>
            <a:r>
              <a:t>• SaaS 订阅制</a:t>
            </a:r>
            <a:br/>
            <a:r>
              <a:t>  - 免费版：5 次/天查询</a:t>
            </a:r>
            <a:br/>
            <a:r>
              <a:t>  - Pro 版：¥99/月，无限查询</a:t>
            </a:r>
            <a:br/>
            <a:r>
              <a:t>  - 企业版：¥999/月，私有部署</a:t>
            </a:r>
            <a:br/>
            <a:br/>
            <a:r>
              <a:t>竞争优势</a:t>
            </a:r>
            <a:br/>
            <a:r>
              <a:t>• 真正的 AI（非关键词匹配）</a:t>
            </a:r>
            <a:br/>
            <a:r>
              <a:t>• 自纠正保证查询成功率</a:t>
            </a:r>
            <a:br/>
            <a:r>
              <a:t>• 五方审查保证代码质量</a:t>
            </a:r>
            <a:br/>
            <a:r>
              <a:t>• 成本极低（MiMo token plan）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4AA3FF"/>
                </a:solidFill>
              </a:defRPr>
            </a:pPr>
            <a:r>
              <a:t>QueryForge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</a:defRPr>
            </a:pPr>
            <a:r>
              <a:t>让每个人都能用数据说话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4AA3FF"/>
                </a:solidFill>
              </a:defRPr>
            </a:pPr>
            <a:r>
              <a:t>queryforge-production-8d6f.up.railway.app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303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B949E"/>
                </a:solidFill>
              </a:defRPr>
            </a:pPr>
            <a:r>
              <a:t>github.com/eric-stone-plus/queryforge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