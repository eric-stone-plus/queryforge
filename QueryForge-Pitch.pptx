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645920" cy="320040"/>
          </a:xfrm>
          <a:prstGeom prst="roundRect">
            <a:avLst/>
          </a:prstGeom>
          <a:solidFill>
            <a:srgbClr val="1A2233"/>
          </a:solidFill>
          <a:ln w="1270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AA3FF"/>
                </a:solidFill>
              </a:defRPr>
            </a:pPr>
            <a:r>
              <a:t>AI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</a:defRPr>
            </a:pPr>
            <a:r>
              <a:t>QueryForge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C9D1D9"/>
                </a:solidFill>
              </a:defRPr>
            </a:pPr>
            <a:r>
              <a:t>让业务部门自助取数</a:t>
            </a:r>
            <a:br/>
            <a:r>
              <a:t>解放数据分析师的重复需求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</a:defRPr>
            </a:pPr>
            <a:r>
              <a:t>分析师调整好底层数据和指标后</a:t>
            </a:r>
            <a:br/>
            <a:r>
              <a:t>业务人员用自然语言自己抓取数据、生成看板、做异常分析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097280"/>
            <a:ext cx="4572000" cy="457200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95160" y="1097280"/>
            <a:ext cx="4297680" cy="36576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13716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AA3FF"/>
                </a:solidFill>
              </a:defRPr>
            </a:pPr>
            <a:r>
              <a:t>AI Data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8288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"哪个品类退货率最高？"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4688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</a:defRPr>
            </a:pPr>
            <a:r>
              <a:t>SELECT c.name, SUM(CASE WHEN o.status='refunded'...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0" y="2926080"/>
            <a:ext cx="4023360" cy="2286000"/>
          </a:xfrm>
          <a:prstGeom prst="rect">
            <a:avLst/>
          </a:prstGeom>
          <a:solidFill>
            <a:srgbClr val="0D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310896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🧠 AI 正在分析...</a:t>
            </a:r>
            <a:br/>
            <a:r>
              <a:t>⚙️ 生成 SQL</a:t>
            </a:r>
            <a:br/>
            <a:r>
              <a:t>📊 执行查询</a:t>
            </a:r>
            <a:br/>
            <a:r>
              <a:t>✅ 查询完成</a:t>
            </a:r>
            <a:br/>
            <a:br/>
            <a:r>
              <a:t>退货率最高：母婴用品 18.2%</a:t>
            </a:r>
            <a:br/>
            <a:r>
              <a:t>建议：排查供应链质量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QueryForge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B949E"/>
                </a:solidFill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645920" cy="320040"/>
          </a:xfrm>
          <a:prstGeom prst="roundRect">
            <a:avLst/>
          </a:prstGeom>
          <a:solidFill>
            <a:srgbClr val="1A2233"/>
          </a:solidFill>
          <a:ln w="12700">
            <a:solidFill>
              <a:srgbClr val="FF6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657A"/>
                </a:solidFill>
              </a:defRPr>
            </a:pPr>
            <a:r>
              <a:t>CUSTOMER PAIN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分析师忙于取数，业务忙于等排期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</a:defRPr>
            </a:pPr>
            <a:r>
              <a:t>同一个指标，不同部门问 10 遍，改 10 遍。分析师没时间做深度分析。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5303520" cy="155448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926080"/>
            <a:ext cx="5029200" cy="36576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重复需求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</a:defRPr>
            </a:pPr>
            <a:r>
              <a:t>业务侧反复提同样的取数需求</a:t>
            </a:r>
            <a:br/>
            <a:r>
              <a:t>分析师反复调整口径和字段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926080"/>
            <a:ext cx="5303520" cy="155448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37960" y="2926080"/>
            <a:ext cx="5029200" cy="36576"/>
          </a:xfrm>
          <a:prstGeom prst="rect">
            <a:avLst/>
          </a:prstGeom>
          <a:solidFill>
            <a:srgbClr val="19D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32004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排期等待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6576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</a:defRPr>
            </a:pPr>
            <a:r>
              <a:t>业务等分析师排期</a:t>
            </a:r>
            <a:br/>
            <a:r>
              <a:t>简单需求也要等 1-2 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754880"/>
            <a:ext cx="5303520" cy="155448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4754880"/>
            <a:ext cx="5029200" cy="36576"/>
          </a:xfrm>
          <a:prstGeom prst="rect">
            <a:avLst/>
          </a:prstGeom>
          <a:solidFill>
            <a:srgbClr val="F7D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029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看板调整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4864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</a:defRPr>
            </a:pPr>
            <a:r>
              <a:t>数据看板每次改字段都要</a:t>
            </a:r>
            <a:br/>
            <a:r>
              <a:t>分析师重新开发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754880"/>
            <a:ext cx="5303520" cy="155448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7960" y="4754880"/>
            <a:ext cx="5029200" cy="36576"/>
          </a:xfrm>
          <a:prstGeom prst="rect">
            <a:avLst/>
          </a:prstGeom>
          <a:solidFill>
            <a:srgbClr val="FF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5029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深度分析被挤占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4864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</a:defRPr>
            </a:pPr>
            <a:r>
              <a:t>分析师 80% 时间在取数</a:t>
            </a:r>
            <a:br/>
            <a:r>
              <a:t>只有 20% 做真正有价值的分析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QueryForge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B949E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645920" cy="320040"/>
          </a:xfrm>
          <a:prstGeom prst="roundRect">
            <a:avLst/>
          </a:prstGeom>
          <a:solidFill>
            <a:srgbClr val="1A2233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A7F37"/>
                </a:solidFill>
              </a:defRPr>
            </a:pPr>
            <a: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分析师建指标，业务自助取数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</a:defRPr>
            </a:pPr>
            <a:r>
              <a:t>分析师从"取数工具人"变成"数据架构师"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43200"/>
            <a:ext cx="2651760" cy="320040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743200"/>
            <a:ext cx="2377440" cy="36576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AA3FF"/>
                </a:solidFill>
              </a:defRPr>
            </a:pPr>
            <a:r>
              <a:t>分析师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949E"/>
                </a:solidFill>
              </a:defRPr>
            </a:pPr>
            <a:r>
              <a:t>调整底层数据</a:t>
            </a:r>
            <a:br/>
            <a:r>
              <a:t>定义指标口径</a:t>
            </a:r>
            <a:br/>
            <a:r>
              <a:t>配置数据看板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2743200"/>
            <a:ext cx="2651760" cy="320040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2743200"/>
            <a:ext cx="2377440" cy="36576"/>
          </a:xfrm>
          <a:prstGeom prst="rect">
            <a:avLst/>
          </a:prstGeom>
          <a:solidFill>
            <a:srgbClr val="19D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3017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9D3C5"/>
                </a:solidFill>
              </a:defRPr>
            </a:pPr>
            <a:r>
              <a:t>业务人员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56616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949E"/>
                </a:solidFill>
              </a:defRPr>
            </a:pPr>
            <a:r>
              <a:t>用中文提问</a:t>
            </a:r>
            <a:br/>
            <a:r>
              <a:t>自然语言取数</a:t>
            </a:r>
            <a:br/>
            <a:r>
              <a:t>自助生成图表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743200"/>
            <a:ext cx="2651760" cy="320040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43200"/>
            <a:ext cx="2377440" cy="36576"/>
          </a:xfrm>
          <a:prstGeom prst="rect">
            <a:avLst/>
          </a:prstGeom>
          <a:solidFill>
            <a:srgbClr val="F7D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017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7D74D"/>
                </a:solidFill>
              </a:defRPr>
            </a:pPr>
            <a:r>
              <a:t>AI 引擎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56616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949E"/>
                </a:solidFill>
              </a:defRPr>
            </a:pPr>
            <a:r>
              <a:t>理解意图</a:t>
            </a:r>
            <a:br/>
            <a:r>
              <a:t>生成 SQL</a:t>
            </a:r>
            <a:br/>
            <a:r>
              <a:t>异常分析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2743200"/>
            <a:ext cx="2651760" cy="320040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35440" y="2743200"/>
            <a:ext cx="2377440" cy="36576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59" y="3017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7F37"/>
                </a:solidFill>
              </a:defRPr>
            </a:pPr>
            <a:r>
              <a:t>输出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59" y="356616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949E"/>
                </a:solidFill>
              </a:defRPr>
            </a:pPr>
            <a:r>
              <a:t>可视化看板</a:t>
            </a:r>
            <a:br/>
            <a:r>
              <a:t>异常提示</a:t>
            </a:r>
            <a:br/>
            <a:r>
              <a:t>决策建议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QueryForge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B949E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645920" cy="320040"/>
          </a:xfrm>
          <a:prstGeom prst="roundRect">
            <a:avLst/>
          </a:prstGeom>
          <a:solidFill>
            <a:srgbClr val="1A2233"/>
          </a:solidFill>
          <a:ln w="12700">
            <a:solidFill>
              <a:srgbClr val="F7D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7D74D"/>
                </a:solidFill>
              </a:defRPr>
            </a:pPr>
            <a:r>
              <a:t>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自纠正循环：SQL 报错 → AI 自动修正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</a:defRPr>
            </a:pPr>
            <a:r>
              <a:t>不是关键词匹配，是真正的 AI 推理。出了错自己修。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3474720" cy="320040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743200"/>
            <a:ext cx="3200400" cy="36576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A3FF"/>
                </a:solidFill>
              </a:defRPr>
            </a:pPr>
            <a:r>
              <a:t>第一步：生成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6616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</a:defRPr>
            </a:pPr>
            <a:r>
              <a:t>AI 理解意图</a:t>
            </a:r>
            <a:br/>
            <a:r>
              <a:t>生成查询语句</a:t>
            </a:r>
            <a:br/>
            <a:r>
              <a:t>执行数据库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2743200"/>
            <a:ext cx="3474720" cy="320040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17720" y="2743200"/>
            <a:ext cx="3200400" cy="36576"/>
          </a:xfrm>
          <a:prstGeom prst="rect">
            <a:avLst/>
          </a:prstGeom>
          <a:solidFill>
            <a:srgbClr val="F7D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3017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7D74D"/>
                </a:solidFill>
              </a:defRPr>
            </a:pPr>
            <a:r>
              <a:t>第二步：自动修正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356616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</a:defRPr>
            </a:pPr>
            <a:r>
              <a:t>SQL 报错</a:t>
            </a:r>
            <a:br/>
            <a:r>
              <a:t>错误反馈给 AI</a:t>
            </a:r>
            <a:br/>
            <a:r>
              <a:t>生成修正 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743200"/>
            <a:ext cx="3474720" cy="320040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66760" y="2743200"/>
            <a:ext cx="3200400" cy="36576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3017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7F37"/>
                </a:solidFill>
              </a:defRPr>
            </a:pPr>
            <a:r>
              <a:t>第三步：成功返回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56616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</a:defRPr>
            </a:pPr>
            <a:r>
              <a:t>修正后查询成功</a:t>
            </a:r>
            <a:br/>
            <a:r>
              <a:t>展示修正标签</a:t>
            </a:r>
            <a:br/>
            <a:r>
              <a:t>返回正确结果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QueryForge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B949E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645920" cy="320040"/>
          </a:xfrm>
          <a:prstGeom prst="roundRect">
            <a:avLst/>
          </a:prstGeom>
          <a:solidFill>
            <a:srgbClr val="1A2233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A7F37"/>
                </a:solidFill>
              </a:defRPr>
            </a:pPr>
            <a:r>
              <a:t>BUSINESS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8 项核心指标 + 6 个图表，真实数据库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2560320" cy="164592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2194560"/>
            <a:ext cx="2286000" cy="36576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79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总营收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3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¥23,256万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194560"/>
            <a:ext cx="2560320" cy="164592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94560"/>
            <a:ext cx="2286000" cy="36576"/>
          </a:xfrm>
          <a:prstGeom prst="rect">
            <a:avLst/>
          </a:prstGeom>
          <a:solidFill>
            <a:srgbClr val="19D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40" y="2468879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客单价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83463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¥23,256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194560"/>
            <a:ext cx="2560320" cy="164592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2194560"/>
            <a:ext cx="2286000" cy="36576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79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毛利率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83463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46.7%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2194560"/>
            <a:ext cx="2560320" cy="164592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72600" y="2194560"/>
            <a:ext cx="2286000" cy="36576"/>
          </a:xfrm>
          <a:prstGeom prst="rect">
            <a:avLst/>
          </a:prstGeom>
          <a:solidFill>
            <a:srgbClr val="F7D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2468879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复购率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83463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100%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206240"/>
            <a:ext cx="2560320" cy="164592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" y="4206240"/>
            <a:ext cx="2286000" cy="36576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59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完成率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66.5%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60" y="4206240"/>
            <a:ext cx="2560320" cy="164592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03320" y="4206240"/>
            <a:ext cx="2286000" cy="36576"/>
          </a:xfrm>
          <a:prstGeom prst="rect">
            <a:avLst/>
          </a:prstGeom>
          <a:solidFill>
            <a:srgbClr val="FF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9040" y="4480559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退款率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40" y="4846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16.6%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4206240"/>
            <a:ext cx="2560320" cy="164592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37960" y="4206240"/>
            <a:ext cx="2286000" cy="36576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480559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连带率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846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2.5件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4206240"/>
            <a:ext cx="2560320" cy="164592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4206240"/>
            <a:ext cx="2286000" cy="36576"/>
          </a:xfrm>
          <a:prstGeom prst="rect">
            <a:avLst/>
          </a:prstGeom>
          <a:solidFill>
            <a:srgbClr val="19D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4480559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活跃买家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4846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1,000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B949E"/>
                </a:solidFill>
              </a:defRPr>
            </a:pPr>
            <a:r>
              <a:t>全部数据来自真实 SQLite 数据库 · 10,000 订单 · 500 商品 · 1,000 用户 · 8 地区 · 20 品类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QueryForge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B949E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645920" cy="320040"/>
          </a:xfrm>
          <a:prstGeom prst="roundRect">
            <a:avLst/>
          </a:prstGeom>
          <a:solidFill>
            <a:srgbClr val="1A2233"/>
          </a:solidFill>
          <a:ln w="12700">
            <a:solidFill>
              <a:srgbClr val="19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9D3C5"/>
                </a:solidFill>
              </a:defRPr>
            </a:pPr>
            <a:r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技术路线：全栈 TypeScript，云端部署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3474720" cy="192024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2194560"/>
            <a:ext cx="3200400" cy="36576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A3FF"/>
                </a:solidFill>
              </a:defRPr>
            </a:pPr>
            <a:r>
              <a:t>前端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Next.js 14 · Tailwind · Recharts</a:t>
            </a:r>
            <a:br/>
            <a:r>
              <a:t>响应式看板 · 深色/浅色主题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2194560"/>
            <a:ext cx="3474720" cy="192024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17720" y="2194560"/>
            <a:ext cx="3200400" cy="36576"/>
          </a:xfrm>
          <a:prstGeom prst="rect">
            <a:avLst/>
          </a:prstGeom>
          <a:solidFill>
            <a:srgbClr val="19D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4688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9D3C5"/>
                </a:solidFill>
              </a:defRPr>
            </a:pPr>
            <a:r>
              <a:t>后端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Next.js API Routes · SSE 流式推送</a:t>
            </a:r>
            <a:br/>
            <a:r>
              <a:t>实时进度展示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194560"/>
            <a:ext cx="3474720" cy="192024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66760" y="2194560"/>
            <a:ext cx="3200400" cy="36576"/>
          </a:xfrm>
          <a:prstGeom prst="rect">
            <a:avLst/>
          </a:prstGeom>
          <a:solidFill>
            <a:srgbClr val="F7D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4688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7D74D"/>
                </a:solidFill>
              </a:defRPr>
            </a:pPr>
            <a:r>
              <a:t>AI 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MiMo v2.5 Pro · Vercel AI SDK</a:t>
            </a:r>
            <a:br/>
            <a:r>
              <a:t>自然语言理解 + SQL 生成 + 自纠正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80560"/>
            <a:ext cx="3474720" cy="192024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480560"/>
            <a:ext cx="3200400" cy="36576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754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7F37"/>
                </a:solidFill>
              </a:defRPr>
            </a:pPr>
            <a:r>
              <a:t>数据层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212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better-sqlite3 · SQL AST 解析</a:t>
            </a:r>
            <a:br/>
            <a:r>
              <a:t>安全校验 · 自动 LIMIT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59" y="4480560"/>
            <a:ext cx="3474720" cy="192024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17720" y="4480560"/>
            <a:ext cx="3200400" cy="36576"/>
          </a:xfrm>
          <a:prstGeom prst="rect">
            <a:avLst/>
          </a:prstGeom>
          <a:solidFill>
            <a:srgbClr val="FF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79" y="4754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57A"/>
                </a:solidFill>
              </a:defRPr>
            </a:pPr>
            <a:r>
              <a:t>部署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79" y="5212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Railway 云端 24/7</a:t>
            </a:r>
            <a:br/>
            <a:r>
              <a:t>macOS 桌面版（SwiftUI）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4480560"/>
            <a:ext cx="3474720" cy="192024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66760" y="4480560"/>
            <a:ext cx="3200400" cy="36576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4754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A3FF"/>
                </a:solidFill>
              </a:defRPr>
            </a:pPr>
            <a:r>
              <a:t>质量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5212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QUINTE 五方对抗审查</a:t>
            </a:r>
            <a:br/>
            <a:r>
              <a:t>5 个 AI 互相挑刺，消除盲区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QueryForge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B949E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645920" cy="320040"/>
          </a:xfrm>
          <a:prstGeom prst="roundRect">
            <a:avLst/>
          </a:prstGeom>
          <a:solidFill>
            <a:srgbClr val="1A2233"/>
          </a:solidFill>
          <a:ln w="12700">
            <a:solidFill>
              <a:srgbClr val="F7D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7D74D"/>
                </a:solidFill>
              </a:defRPr>
            </a:pPr>
            <a:r>
              <a:t>SCORE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评分预估：88-96 / 105 + 3 加分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10698480" cy="45720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2194560"/>
            <a:ext cx="10424159" cy="36576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949E"/>
                </a:solidFill>
              </a:defRPr>
            </a:pPr>
            <a:r>
              <a:t>维度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40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8B949E"/>
                </a:solidFill>
              </a:defRPr>
            </a:pPr>
            <a:r>
              <a:t>满分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40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8B949E"/>
                </a:solidFill>
              </a:defRPr>
            </a:pPr>
            <a:r>
              <a:t>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240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949E"/>
                </a:solidFill>
              </a:defRPr>
            </a:pPr>
            <a:r>
              <a:t>依据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50292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788920"/>
            <a:ext cx="10424159" cy="36576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Demo 现场可用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834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949E"/>
                </a:solidFill>
              </a:defRPr>
            </a:pPr>
            <a: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834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A3FF"/>
                </a:solidFill>
              </a:defRPr>
            </a:pPr>
            <a:r>
              <a:t>20-22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公网部署 + 缓存 + 流式进度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383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用户价值/PMF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83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949E"/>
                </a:solidFill>
              </a:defRPr>
            </a:pPr>
            <a:r>
              <a:t>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383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9D3C5"/>
                </a:solidFill>
              </a:defRPr>
            </a:pPr>
            <a:r>
              <a:t>16-18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383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分析师 → 业务自助取数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86200"/>
            <a:ext cx="10698480" cy="50292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" y="3886200"/>
            <a:ext cx="10424159" cy="36576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技术实现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31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949E"/>
                </a:solidFill>
              </a:defRPr>
            </a:pPr>
            <a: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931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7F37"/>
                </a:solidFill>
              </a:defRPr>
            </a:pPr>
            <a:r>
              <a:t>16-18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AI SDK + AST 校验 + 自纠正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创新性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480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949E"/>
                </a:solidFill>
              </a:defRPr>
            </a:pPr>
            <a: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480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7D74D"/>
                </a:solidFill>
              </a:defRPr>
            </a:pPr>
            <a:r>
              <a:t>11-13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自纠正循环 + 对抗审查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983480"/>
            <a:ext cx="10698480" cy="50292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8680" y="4983480"/>
            <a:ext cx="10424159" cy="36576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商业潜力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029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949E"/>
                </a:solidFill>
              </a:defRPr>
            </a:pPr>
            <a: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029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57A"/>
                </a:solidFill>
              </a:defRPr>
            </a:pPr>
            <a:r>
              <a:t>7-8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SaaS 模式 + 真实数据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路演表达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5577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949E"/>
                </a:solidFill>
              </a:defRPr>
            </a:pPr>
            <a: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577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A3FF"/>
                </a:solidFill>
              </a:defRPr>
            </a:pPr>
            <a:r>
              <a:t>8-9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故事线 + 排练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6217920"/>
            <a:ext cx="10698480" cy="36576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8680" y="6217920"/>
            <a:ext cx="10424159" cy="36576"/>
          </a:xfrm>
          <a:prstGeom prst="rect">
            <a:avLst/>
          </a:prstGeom>
          <a:solidFill>
            <a:srgbClr val="F7D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5840" y="623620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加分：ClawHunt 上架 +3    总计预估：91-101 / 105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QueryForge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B949E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645920" cy="320040"/>
          </a:xfrm>
          <a:prstGeom prst="roundRect">
            <a:avLst/>
          </a:prstGeom>
          <a:solidFill>
            <a:srgbClr val="1A2233"/>
          </a:solidFill>
          <a:ln w="12700">
            <a:solidFill>
              <a:srgbClr val="FF6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657A"/>
                </a:solidFill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现场演示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2103120" cy="320040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2194560"/>
            <a:ext cx="1828799" cy="36576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77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AA3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34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预设查询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832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B949E"/>
                </a:solidFill>
              </a:defRPr>
            </a:pPr>
            <a:r>
              <a:t>点击 demo chip</a:t>
            </a:r>
            <a:br/>
            <a:r>
              <a:t>展示 AI 生成 SQL</a:t>
            </a:r>
            <a:br/>
            <a:r>
              <a:t>流式进度推送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2194560"/>
            <a:ext cx="2103120" cy="320040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80360" y="2194560"/>
            <a:ext cx="1828799" cy="36576"/>
          </a:xfrm>
          <a:prstGeom prst="rect">
            <a:avLst/>
          </a:prstGeom>
          <a:solidFill>
            <a:srgbClr val="19D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2377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9D3C5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834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自由提问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33832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B949E"/>
                </a:solidFill>
              </a:defRPr>
            </a:pPr>
            <a:r>
              <a:t>"最近三个月哪个</a:t>
            </a:r>
            <a:br/>
            <a:r>
              <a:t>品类增长最快"</a:t>
            </a:r>
            <a:br/>
            <a:r>
              <a:t>展示 AI 理解意图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194560"/>
            <a:ext cx="2103120" cy="320040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66360" y="2194560"/>
            <a:ext cx="1828799" cy="36576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60" y="2377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7F37"/>
                </a:solidFill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2834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看板联动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3832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B949E"/>
                </a:solidFill>
              </a:defRPr>
            </a:pPr>
            <a:r>
              <a:t>8 个 KPI + 6 个图表</a:t>
            </a:r>
            <a:br/>
            <a:r>
              <a:t>全部真实数据库</a:t>
            </a:r>
            <a:br/>
            <a:r>
              <a:t>秒加载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194560"/>
            <a:ext cx="2103120" cy="320040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2360" y="2194560"/>
            <a:ext cx="1828799" cy="36576"/>
          </a:xfrm>
          <a:prstGeom prst="rect">
            <a:avLst/>
          </a:prstGeom>
          <a:solidFill>
            <a:srgbClr val="F7D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60" y="2377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7D74D"/>
                </a:solidFill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834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指标复用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33832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B949E"/>
                </a:solidFill>
              </a:defRPr>
            </a:pPr>
            <a:r>
              <a:t>保存/删除/复用</a:t>
            </a:r>
            <a:br/>
            <a:r>
              <a:t>分析师预设口径</a:t>
            </a:r>
            <a:br/>
            <a:r>
              <a:t>业务一键取数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2194560"/>
            <a:ext cx="2103120" cy="3200400"/>
          </a:xfrm>
          <a:prstGeom prst="roundRect">
            <a:avLst/>
          </a:prstGeom>
          <a:solidFill>
            <a:srgbClr val="14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38360" y="2194560"/>
            <a:ext cx="1828799" cy="36576"/>
          </a:xfrm>
          <a:prstGeom prst="rect">
            <a:avLst/>
          </a:prstGeom>
          <a:solidFill>
            <a:srgbClr val="FF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38360" y="2377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657A"/>
                </a:solidFill>
              </a:defRPr>
            </a:pPr>
            <a: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2834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自纠正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360" y="33832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B949E"/>
                </a:solidFill>
              </a:defRPr>
            </a:pPr>
            <a:r>
              <a:t>SQL 报错 → 自动修正</a:t>
            </a:r>
            <a:br/>
            <a:r>
              <a:t>展示修正过程</a:t>
            </a:r>
            <a:br/>
            <a:r>
              <a:t>增强信任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AA3FF"/>
                </a:solidFill>
              </a:defRPr>
            </a:pPr>
            <a:r>
              <a:t>queryforge-production-8d6f.up.railway.app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B949E"/>
                </a:solidFill>
              </a:defRPr>
            </a:pPr>
            <a:r>
              <a:t>github.com/eric-stone-plus/queryforge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QueryForge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B949E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4AA3FF"/>
                </a:solidFill>
              </a:defRPr>
            </a:pPr>
            <a:r>
              <a:t>QueryForge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让业务部门自助取数</a:t>
            </a:r>
            <a:br/>
            <a:r>
              <a:t>解放数据分析师的重复需求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AA3FF"/>
                </a:solidFill>
              </a:defRPr>
            </a:pPr>
            <a:r>
              <a:t>queryforge-production-8d6f.up.railway.app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949E"/>
                </a:solidFill>
              </a:defRPr>
            </a:pPr>
            <a:r>
              <a:t>github.com/eric-stone-plus/queryforge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B949E"/>
                </a:solidFill>
              </a:defRPr>
            </a:pPr>
            <a:r>
              <a:t>ClawHunt Builder Camp 2026 · Track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