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548640"/>
            <a:ext cx="1645920" cy="320040"/>
          </a:xfrm>
          <a:prstGeom prst="roundRect">
            <a:avLst/>
          </a:prstGeom>
          <a:solidFill>
            <a:srgbClr val="1A2233"/>
          </a:solidFill>
          <a:ln w="12700">
            <a:solidFill>
              <a:srgbClr val="4AA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4AA3FF"/>
                </a:solidFill>
              </a:defRPr>
            </a:pPr>
            <a:r>
              <a:t>AI DATA AGENT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200" b="1">
                <a:solidFill>
                  <a:srgbClr val="FFFFFF"/>
                </a:solidFill>
              </a:defRPr>
            </a:pPr>
            <a:r>
              <a:t>QueryForge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5486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C9D1D9"/>
                </a:solidFill>
              </a:defRPr>
            </a:pPr>
            <a:r>
              <a:t>让业务数据快速变成经营洞察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74720"/>
            <a:ext cx="5486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B949E"/>
                </a:solidFill>
              </a:defRPr>
            </a:pPr>
            <a:r>
              <a:t>自然语言提问 → AI 生成 SQL → 实时可视化</a:t>
            </a:r>
            <a:br/>
            <a:r>
              <a:t>不是关键词匹配，是真正的 AI 推理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0" y="1097280"/>
            <a:ext cx="4572000" cy="4572000"/>
          </a:xfrm>
          <a:prstGeom prst="roundRect">
            <a:avLst/>
          </a:prstGeom>
          <a:solidFill>
            <a:srgbClr val="141A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995160" y="1097280"/>
            <a:ext cx="4297680" cy="36576"/>
          </a:xfrm>
          <a:prstGeom prst="rect">
            <a:avLst/>
          </a:prstGeom>
          <a:solidFill>
            <a:srgbClr val="4A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0" y="1371600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4AA3FF"/>
                </a:solidFill>
              </a:defRPr>
            </a:pPr>
            <a:r>
              <a:t>AI Data Agent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0" y="1828800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各地区月度销售额趋势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0" y="2468880"/>
            <a:ext cx="4023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B949E"/>
                </a:solidFill>
              </a:defRPr>
            </a:pPr>
            <a:r>
              <a:t>SELECT r.name, strftime('%Y-%m', o.order_date)...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132320" y="2926080"/>
            <a:ext cx="4023360" cy="2286000"/>
          </a:xfrm>
          <a:prstGeom prst="rect">
            <a:avLst/>
          </a:prstGeom>
          <a:solidFill>
            <a:srgbClr val="0D11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0" y="3108960"/>
            <a:ext cx="3657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B949E"/>
                </a:solidFill>
              </a:defRPr>
            </a:pPr>
            <a:r>
              <a:t>📈 240 行数据 · 8 地区 · 30 个月</a:t>
            </a:r>
            <a:br/>
            <a:r>
              <a:t>折线图已生成</a:t>
            </a:r>
            <a:br/>
            <a:br/>
            <a:r>
              <a:t>MiMo v2.5 Pro 实时推理</a:t>
            </a:r>
            <a:br/>
            <a:r>
              <a:t>SQL AST 安全校验</a:t>
            </a:r>
            <a:br/>
            <a:r>
              <a:t>自动 LIMIT 500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49E"/>
                </a:solidFill>
              </a:defRPr>
            </a:pPr>
            <a:r>
              <a:t>QueryForge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5568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8B949E"/>
                </a:solidFill>
              </a:defRPr>
            </a:pPr>
            <a: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548640"/>
            <a:ext cx="1645920" cy="320040"/>
          </a:xfrm>
          <a:prstGeom prst="roundRect">
            <a:avLst/>
          </a:prstGeom>
          <a:solidFill>
            <a:srgbClr val="1A2233"/>
          </a:solidFill>
          <a:ln w="12700">
            <a:solidFill>
              <a:srgbClr val="FF65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657A"/>
                </a:solidFill>
              </a:defRPr>
            </a:pPr>
            <a:r>
              <a:t>CUSTOMER PAIN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业务团队缺的不是数据，而是可直接使用的分析结论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8B949E"/>
                </a:solidFill>
              </a:defRPr>
            </a:pPr>
            <a:r>
              <a:t>经营数据散落在文件里，真正耗时的是清洗、理解、解释和汇报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926080"/>
            <a:ext cx="5303520" cy="1554480"/>
          </a:xfrm>
          <a:prstGeom prst="roundRect">
            <a:avLst/>
          </a:prstGeom>
          <a:solidFill>
            <a:srgbClr val="141A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68680" y="2926080"/>
            <a:ext cx="5029200" cy="36576"/>
          </a:xfrm>
          <a:prstGeom prst="rect">
            <a:avLst/>
          </a:prstGeom>
          <a:solidFill>
            <a:srgbClr val="4A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320040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t>SQL 门槛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657600"/>
            <a:ext cx="4754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B949E"/>
                </a:solidFill>
              </a:defRPr>
            </a:pPr>
            <a:r>
              <a:t>业务人员不会写查询，依赖数据团队排队等排期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2926080"/>
            <a:ext cx="5303520" cy="1554480"/>
          </a:xfrm>
          <a:prstGeom prst="roundRect">
            <a:avLst/>
          </a:prstGeom>
          <a:solidFill>
            <a:srgbClr val="141A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37960" y="2926080"/>
            <a:ext cx="5029200" cy="36576"/>
          </a:xfrm>
          <a:prstGeom prst="rect">
            <a:avLst/>
          </a:prstGeom>
          <a:solidFill>
            <a:srgbClr val="19D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75120" y="320040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t>工具太重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0" y="3657600"/>
            <a:ext cx="4754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B949E"/>
                </a:solidFill>
              </a:defRPr>
            </a:pPr>
            <a:r>
              <a:t>传统 BI 学习成本高，临时需求无法快速响应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754880"/>
            <a:ext cx="5303520" cy="1554480"/>
          </a:xfrm>
          <a:prstGeom prst="roundRect">
            <a:avLst/>
          </a:prstGeom>
          <a:solidFill>
            <a:srgbClr val="141A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68680" y="4754880"/>
            <a:ext cx="5029200" cy="36576"/>
          </a:xfrm>
          <a:prstGeom prst="rect">
            <a:avLst/>
          </a:prstGeom>
          <a:solidFill>
            <a:srgbClr val="F7D7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502920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t>假智能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5486400"/>
            <a:ext cx="4754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B949E"/>
                </a:solidFill>
              </a:defRPr>
            </a:pPr>
            <a:r>
              <a:t>市面工具用关键词匹配冒充 AI，无法理解开放式问题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0" y="4754880"/>
            <a:ext cx="5303520" cy="1554480"/>
          </a:xfrm>
          <a:prstGeom prst="roundRect">
            <a:avLst/>
          </a:prstGeom>
          <a:solidFill>
            <a:srgbClr val="141A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537960" y="4754880"/>
            <a:ext cx="5029200" cy="36576"/>
          </a:xfrm>
          <a:prstGeom prst="rect">
            <a:avLst/>
          </a:prstGeom>
          <a:solidFill>
            <a:srgbClr val="FF65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75120" y="502920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t>单点故障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75120" y="5486400"/>
            <a:ext cx="4754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B949E"/>
                </a:solidFill>
              </a:defRPr>
            </a:pPr>
            <a:r>
              <a:t>LLM 偶尔生成错误 SQL，没有自动修正机制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49E"/>
                </a:solidFill>
              </a:defRPr>
            </a:pPr>
            <a:r>
              <a:t>QueryForge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5568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8B949E"/>
                </a:solidFill>
              </a:defRPr>
            </a:pPr>
            <a: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548640"/>
            <a:ext cx="1645920" cy="320040"/>
          </a:xfrm>
          <a:prstGeom prst="roundRect">
            <a:avLst/>
          </a:prstGeom>
          <a:solidFill>
            <a:srgbClr val="1A2233"/>
          </a:solidFill>
          <a:ln w="12700">
            <a:solidFill>
              <a:srgbClr val="19D3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19D3C5"/>
                </a:solidFill>
              </a:defRPr>
            </a:pPr>
            <a:r>
              <a:t>PRODUCT POSITIONING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真正的 AI 数据分析，不是关键词匹配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8B949E"/>
                </a:solidFill>
              </a:defRPr>
            </a:pPr>
            <a:r>
              <a:t>从自然语言到 SQL 到可视化，全链路 AI 推理，一步到位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743200"/>
            <a:ext cx="2651760" cy="3474720"/>
          </a:xfrm>
          <a:prstGeom prst="roundRect">
            <a:avLst/>
          </a:prstGeom>
          <a:solidFill>
            <a:srgbClr val="141A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94360" y="2743200"/>
            <a:ext cx="2377440" cy="36576"/>
          </a:xfrm>
          <a:prstGeom prst="rect">
            <a:avLst/>
          </a:prstGeom>
          <a:solidFill>
            <a:srgbClr val="4A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30175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AA3FF"/>
                </a:solidFill>
              </a:defRPr>
            </a:pPr>
            <a:r>
              <a:t>01  提问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5661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</a:defRPr>
            </a:pPr>
            <a:r>
              <a:t>用户用中文描述需求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206240"/>
            <a:ext cx="2286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49E"/>
                </a:solidFill>
              </a:defRPr>
            </a:pPr>
            <a:r>
              <a:t>"最近三个月哪个品类增长最快"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37560" y="2743200"/>
            <a:ext cx="2651760" cy="3474720"/>
          </a:xfrm>
          <a:prstGeom prst="roundRect">
            <a:avLst/>
          </a:prstGeom>
          <a:solidFill>
            <a:srgbClr val="141A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74720" y="2743200"/>
            <a:ext cx="2377440" cy="36576"/>
          </a:xfrm>
          <a:prstGeom prst="rect">
            <a:avLst/>
          </a:prstGeom>
          <a:solidFill>
            <a:srgbClr val="19D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20440" y="30175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9D3C5"/>
                </a:solidFill>
              </a:defRPr>
            </a:pPr>
            <a:r>
              <a:t>02  推理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0440" y="35661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</a:defRPr>
            </a:pPr>
            <a:r>
              <a:t>AI 理解意图，生成 SQL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20440" y="4206240"/>
            <a:ext cx="2286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49E"/>
                </a:solidFill>
              </a:defRPr>
            </a:pPr>
            <a:r>
              <a:t>MiMo v2.5 Pro 实时推理</a:t>
            </a:r>
            <a:br/>
            <a:r>
              <a:t>AST 解析器安全校验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2743200"/>
            <a:ext cx="2651760" cy="3474720"/>
          </a:xfrm>
          <a:prstGeom prst="roundRect">
            <a:avLst/>
          </a:prstGeom>
          <a:solidFill>
            <a:srgbClr val="141A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55080" y="2743200"/>
            <a:ext cx="2377440" cy="36576"/>
          </a:xfrm>
          <a:prstGeom prst="rect">
            <a:avLst/>
          </a:prstGeom>
          <a:solidFill>
            <a:srgbClr val="1A7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30175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7F37"/>
                </a:solidFill>
              </a:defRPr>
            </a:pPr>
            <a:r>
              <a:t>03  执行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35661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</a:defRPr>
            </a:pPr>
            <a:r>
              <a:t>查询数据库，返回结果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4206240"/>
            <a:ext cx="2286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49E"/>
                </a:solidFill>
              </a:defRPr>
            </a:pPr>
            <a:r>
              <a:t>10,000 订单 · 500 商品</a:t>
            </a:r>
            <a:br/>
            <a:r>
              <a:t>自动 LIMIT 防卡死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98280" y="2743200"/>
            <a:ext cx="2651760" cy="3474720"/>
          </a:xfrm>
          <a:prstGeom prst="roundRect">
            <a:avLst/>
          </a:prstGeom>
          <a:solidFill>
            <a:srgbClr val="141A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235440" y="2743200"/>
            <a:ext cx="2377440" cy="36576"/>
          </a:xfrm>
          <a:prstGeom prst="rect">
            <a:avLst/>
          </a:prstGeom>
          <a:solidFill>
            <a:srgbClr val="F7D7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281159" y="30175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7D74D"/>
                </a:solidFill>
              </a:defRPr>
            </a:pPr>
            <a:r>
              <a:t>04  可视化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81159" y="35661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</a:defRPr>
            </a:pPr>
            <a:r>
              <a:t>图表 + 指标 + 解释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81159" y="4206240"/>
            <a:ext cx="2286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49E"/>
                </a:solidFill>
              </a:defRPr>
            </a:pPr>
            <a:r>
              <a:t>柱状/折线/饼图/面积图</a:t>
            </a:r>
            <a:br/>
            <a:r>
              <a:t>KPI 卡片 + 数据透视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49E"/>
                </a:solidFill>
              </a:defRPr>
            </a:pPr>
            <a:r>
              <a:t>QueryForge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15568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8B949E"/>
                </a:solidFill>
              </a:defRPr>
            </a:pPr>
            <a: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548640"/>
            <a:ext cx="1645920" cy="320040"/>
          </a:xfrm>
          <a:prstGeom prst="roundRect">
            <a:avLst/>
          </a:prstGeom>
          <a:solidFill>
            <a:srgbClr val="1A2233"/>
          </a:solidFill>
          <a:ln w="12700">
            <a:solidFill>
              <a:srgbClr val="F7D7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7D74D"/>
                </a:solidFill>
              </a:defRPr>
            </a:pPr>
            <a:r>
              <a:t>INNOVATION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自纠正循环：SQL 报错 → AI 自动修正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8B949E"/>
                </a:solidFill>
              </a:defRPr>
            </a:pPr>
            <a:r>
              <a:t>不是出了错就放弃，而是把错误反馈给 AI，让它自己修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743200"/>
            <a:ext cx="3474720" cy="3200400"/>
          </a:xfrm>
          <a:prstGeom prst="roundRect">
            <a:avLst/>
          </a:prstGeom>
          <a:solidFill>
            <a:srgbClr val="141A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68680" y="2743200"/>
            <a:ext cx="3200400" cy="36576"/>
          </a:xfrm>
          <a:prstGeom prst="rect">
            <a:avLst/>
          </a:prstGeom>
          <a:solidFill>
            <a:srgbClr val="4A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301752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AA3FF"/>
                </a:solidFill>
              </a:defRPr>
            </a:pPr>
            <a:r>
              <a:t>第一步：生成 SQL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566160"/>
            <a:ext cx="29260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B949E"/>
                </a:solidFill>
              </a:defRPr>
            </a:pPr>
            <a:r>
              <a:t>用户问："各品类退货率"</a:t>
            </a:r>
            <a:br/>
            <a:br/>
            <a:r>
              <a:t>AI 生成 SQL</a:t>
            </a:r>
            <a:br/>
            <a:r>
              <a:t>执行 → 报错</a:t>
            </a:r>
            <a:br/>
            <a:r>
              <a:t>"no such column: refund_rate"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60" y="2743200"/>
            <a:ext cx="3474720" cy="3200400"/>
          </a:xfrm>
          <a:prstGeom prst="roundRect">
            <a:avLst/>
          </a:prstGeom>
          <a:solidFill>
            <a:srgbClr val="141A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617720" y="2743200"/>
            <a:ext cx="3200400" cy="36576"/>
          </a:xfrm>
          <a:prstGeom prst="rect">
            <a:avLst/>
          </a:prstGeom>
          <a:solidFill>
            <a:srgbClr val="F7D7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54880" y="301752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7D74D"/>
                </a:solidFill>
              </a:defRPr>
            </a:pPr>
            <a:r>
              <a:t>第二步：自动修正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0" y="3566160"/>
            <a:ext cx="29260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B949E"/>
                </a:solidFill>
              </a:defRPr>
            </a:pPr>
            <a:r>
              <a:t>错误信息反馈给 AI</a:t>
            </a:r>
            <a:br/>
            <a:br/>
            <a:r>
              <a:t>AI 分析错误原因</a:t>
            </a:r>
            <a:br/>
            <a:r>
              <a:t>生成修正后的 SQL</a:t>
            </a:r>
            <a:br/>
            <a:r>
              <a:t>重新执行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0" y="2743200"/>
            <a:ext cx="3474720" cy="3200400"/>
          </a:xfrm>
          <a:prstGeom prst="roundRect">
            <a:avLst/>
          </a:prstGeom>
          <a:solidFill>
            <a:srgbClr val="141A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366760" y="2743200"/>
            <a:ext cx="3200400" cy="36576"/>
          </a:xfrm>
          <a:prstGeom prst="rect">
            <a:avLst/>
          </a:prstGeom>
          <a:solidFill>
            <a:srgbClr val="1A7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03920" y="301752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7F37"/>
                </a:solidFill>
              </a:defRPr>
            </a:pPr>
            <a:r>
              <a:t>第三步：成功返回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0" y="3566160"/>
            <a:ext cx="29260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B949E"/>
                </a:solidFill>
              </a:defRPr>
            </a:pPr>
            <a:r>
              <a:t>修正后查询成功</a:t>
            </a:r>
            <a:br/>
            <a:br/>
            <a:r>
              <a:t>用户看到：</a:t>
            </a:r>
            <a:br/>
            <a:r>
              <a:t>✅ 修正标签</a:t>
            </a:r>
            <a:br/>
            <a:r>
              <a:t>✅ 正确图表</a:t>
            </a:r>
            <a:br/>
            <a:r>
              <a:t>✅ 修正说明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49E"/>
                </a:solidFill>
              </a:defRPr>
            </a:pPr>
            <a:r>
              <a:t>QueryForge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5568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8B949E"/>
                </a:solidFill>
              </a:defRPr>
            </a:pPr>
            <a: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548640"/>
            <a:ext cx="1645920" cy="320040"/>
          </a:xfrm>
          <a:prstGeom prst="roundRect">
            <a:avLst/>
          </a:prstGeom>
          <a:solidFill>
            <a:srgbClr val="1A2233"/>
          </a:solidFill>
          <a:ln w="12700">
            <a:solidFill>
              <a:srgbClr val="1A7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1A7F37"/>
                </a:solidFill>
              </a:defRPr>
            </a:pPr>
            <a:r>
              <a:t>BUSINESS DASHBOARD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商业数据透视面板，8 项核心指标 + 6 个图表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8B949E"/>
                </a:solidFill>
              </a:defRPr>
            </a:pPr>
            <a:r>
              <a:t>全部来自真实数据库，不是模拟数据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743200"/>
            <a:ext cx="2560320" cy="1554480"/>
          </a:xfrm>
          <a:prstGeom prst="roundRect">
            <a:avLst/>
          </a:prstGeom>
          <a:solidFill>
            <a:srgbClr val="141A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68680" y="2743200"/>
            <a:ext cx="2286000" cy="36576"/>
          </a:xfrm>
          <a:prstGeom prst="rect">
            <a:avLst/>
          </a:prstGeom>
          <a:solidFill>
            <a:srgbClr val="4A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97180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B949E"/>
                </a:solidFill>
              </a:defRPr>
            </a:pPr>
            <a:r>
              <a:t>总营收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29184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¥23,256万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84048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B949E"/>
                </a:solidFill>
              </a:defRPr>
            </a:pPr>
            <a:r>
              <a:t>30个月累计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66160" y="2743200"/>
            <a:ext cx="2560320" cy="1554480"/>
          </a:xfrm>
          <a:prstGeom prst="roundRect">
            <a:avLst/>
          </a:prstGeom>
          <a:solidFill>
            <a:srgbClr val="141A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703320" y="2743200"/>
            <a:ext cx="2286000" cy="36576"/>
          </a:xfrm>
          <a:prstGeom prst="rect">
            <a:avLst/>
          </a:prstGeom>
          <a:solidFill>
            <a:srgbClr val="19D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49040" y="297180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B949E"/>
                </a:solidFill>
              </a:defRPr>
            </a:pPr>
            <a:r>
              <a:t>客单价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49040" y="329184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¥23,256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49040" y="384048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B949E"/>
                </a:solidFill>
              </a:defRPr>
            </a:pPr>
            <a:r>
              <a:t>平均每单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0" y="2743200"/>
            <a:ext cx="2560320" cy="1554480"/>
          </a:xfrm>
          <a:prstGeom prst="roundRect">
            <a:avLst/>
          </a:prstGeom>
          <a:solidFill>
            <a:srgbClr val="141A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537960" y="2743200"/>
            <a:ext cx="2286000" cy="36576"/>
          </a:xfrm>
          <a:prstGeom prst="rect">
            <a:avLst/>
          </a:prstGeom>
          <a:solidFill>
            <a:srgbClr val="1A7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297180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B949E"/>
                </a:solidFill>
              </a:defRPr>
            </a:pPr>
            <a:r>
              <a:t>毛利率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329184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46.7%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384048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B949E"/>
                </a:solidFill>
              </a:defRPr>
            </a:pPr>
            <a:r>
              <a:t>全品类均值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235440" y="2743200"/>
            <a:ext cx="2560320" cy="1554480"/>
          </a:xfrm>
          <a:prstGeom prst="roundRect">
            <a:avLst/>
          </a:prstGeom>
          <a:solidFill>
            <a:srgbClr val="141A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372600" y="2743200"/>
            <a:ext cx="2286000" cy="36576"/>
          </a:xfrm>
          <a:prstGeom prst="rect">
            <a:avLst/>
          </a:prstGeom>
          <a:solidFill>
            <a:srgbClr val="F7D7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418320" y="297180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B949E"/>
                </a:solidFill>
              </a:defRPr>
            </a:pPr>
            <a:r>
              <a:t>复购率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18320" y="329184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100%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18320" y="384048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B949E"/>
                </a:solidFill>
              </a:defRPr>
            </a:pPr>
            <a:r>
              <a:t>人均10单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" y="4572000"/>
            <a:ext cx="2560320" cy="1554480"/>
          </a:xfrm>
          <a:prstGeom prst="roundRect">
            <a:avLst/>
          </a:prstGeom>
          <a:solidFill>
            <a:srgbClr val="141A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68680" y="4572000"/>
            <a:ext cx="2286000" cy="36576"/>
          </a:xfrm>
          <a:prstGeom prst="rect">
            <a:avLst/>
          </a:prstGeom>
          <a:solidFill>
            <a:srgbClr val="1A7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480060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B949E"/>
                </a:solidFill>
              </a:defRPr>
            </a:pPr>
            <a:r>
              <a:t>完成率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" y="512064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66.5%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566928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B949E"/>
                </a:solidFill>
              </a:defRPr>
            </a:pPr>
            <a:r>
              <a:t>6,650单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566160" y="4572000"/>
            <a:ext cx="2560320" cy="1554480"/>
          </a:xfrm>
          <a:prstGeom prst="roundRect">
            <a:avLst/>
          </a:prstGeom>
          <a:solidFill>
            <a:srgbClr val="141A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703320" y="4572000"/>
            <a:ext cx="2286000" cy="36576"/>
          </a:xfrm>
          <a:prstGeom prst="rect">
            <a:avLst/>
          </a:prstGeom>
          <a:solidFill>
            <a:srgbClr val="FF65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749040" y="480060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B949E"/>
                </a:solidFill>
              </a:defRPr>
            </a:pPr>
            <a:r>
              <a:t>退款率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749040" y="512064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16.6%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749040" y="566928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B949E"/>
                </a:solidFill>
              </a:defRPr>
            </a:pPr>
            <a:r>
              <a:t>1,664单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400800" y="4572000"/>
            <a:ext cx="2560320" cy="1554480"/>
          </a:xfrm>
          <a:prstGeom prst="roundRect">
            <a:avLst/>
          </a:prstGeom>
          <a:solidFill>
            <a:srgbClr val="141A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537960" y="4572000"/>
            <a:ext cx="2286000" cy="36576"/>
          </a:xfrm>
          <a:prstGeom prst="rect">
            <a:avLst/>
          </a:prstGeom>
          <a:solidFill>
            <a:srgbClr val="4A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583680" y="480060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B949E"/>
                </a:solidFill>
              </a:defRPr>
            </a:pPr>
            <a:r>
              <a:t>连带率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83680" y="512064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2.5件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83680" y="566928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B949E"/>
                </a:solidFill>
              </a:defRPr>
            </a:pPr>
            <a:r>
              <a:t>每单平均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235440" y="4572000"/>
            <a:ext cx="2560320" cy="1554480"/>
          </a:xfrm>
          <a:prstGeom prst="roundRect">
            <a:avLst/>
          </a:prstGeom>
          <a:solidFill>
            <a:srgbClr val="141A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9372600" y="4572000"/>
            <a:ext cx="2286000" cy="36576"/>
          </a:xfrm>
          <a:prstGeom prst="rect">
            <a:avLst/>
          </a:prstGeom>
          <a:solidFill>
            <a:srgbClr val="19D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418320" y="480060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B949E"/>
                </a:solidFill>
              </a:defRPr>
            </a:pPr>
            <a:r>
              <a:t>活跃买家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418320" y="512064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1,000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418320" y="566928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B949E"/>
                </a:solidFill>
              </a:defRPr>
            </a:pPr>
            <a:r>
              <a:t>覆盖20品类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3152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49E"/>
                </a:solidFill>
              </a:defRPr>
            </a:pPr>
            <a:r>
              <a:t>QueryForge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115568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8B949E"/>
                </a:solidFill>
              </a:defRPr>
            </a:pPr>
            <a: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548640"/>
            <a:ext cx="1645920" cy="320040"/>
          </a:xfrm>
          <a:prstGeom prst="roundRect">
            <a:avLst/>
          </a:prstGeom>
          <a:solidFill>
            <a:srgbClr val="1A2233"/>
          </a:solidFill>
          <a:ln w="12700">
            <a:solidFill>
              <a:srgbClr val="4AA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4AA3FF"/>
                </a:solidFill>
              </a:defRPr>
            </a:pPr>
            <a:r>
              <a:t>QUALITY ASSURANCE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五方对抗审查：5 个 AI 互相挑刺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8B949E"/>
                </a:solidFill>
              </a:defRPr>
            </a:pPr>
            <a:r>
              <a:t>不是一个人写代码一个人审，而是 5 个独立 AI 同时审查，消除单点盲区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743200"/>
            <a:ext cx="3474720" cy="2560320"/>
          </a:xfrm>
          <a:prstGeom prst="roundRect">
            <a:avLst/>
          </a:prstGeom>
          <a:solidFill>
            <a:srgbClr val="141A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68680" y="2743200"/>
            <a:ext cx="3200400" cy="36576"/>
          </a:xfrm>
          <a:prstGeom prst="rect">
            <a:avLst/>
          </a:prstGeom>
          <a:solidFill>
            <a:srgbClr val="4A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301752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AA3FF"/>
                </a:solidFill>
              </a:defRPr>
            </a:pPr>
            <a:r>
              <a:t>R1 独立分析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566160"/>
            <a:ext cx="2926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B949E"/>
                </a:solidFill>
              </a:defRPr>
            </a:pPr>
            <a:r>
              <a:t>5 个智能体各自独立审查</a:t>
            </a:r>
            <a:br/>
            <a:r>
              <a:t>互不通信，避免群体思维</a:t>
            </a:r>
            <a:br/>
            <a:r>
              <a:t>每个结论必须引用文件和行号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59" y="2743200"/>
            <a:ext cx="3474720" cy="2560320"/>
          </a:xfrm>
          <a:prstGeom prst="roundRect">
            <a:avLst/>
          </a:prstGeom>
          <a:solidFill>
            <a:srgbClr val="141A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617720" y="2743200"/>
            <a:ext cx="3200400" cy="36576"/>
          </a:xfrm>
          <a:prstGeom prst="rect">
            <a:avLst/>
          </a:prstGeom>
          <a:solidFill>
            <a:srgbClr val="19D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54879" y="301752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9D3C5"/>
                </a:solidFill>
              </a:defRPr>
            </a:pPr>
            <a:r>
              <a:t>R2 交叉审查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79" y="3566160"/>
            <a:ext cx="2926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B949E"/>
                </a:solidFill>
              </a:defRPr>
            </a:pPr>
            <a:r>
              <a:t>匿名审查其他 4 个的输出</a:t>
            </a:r>
            <a:br/>
            <a:r>
              <a:t>标记共识、分歧和盲区</a:t>
            </a:r>
            <a:br/>
            <a:r>
              <a:t>被说服必须声明立场变更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0" y="2743200"/>
            <a:ext cx="3474720" cy="2560320"/>
          </a:xfrm>
          <a:prstGeom prst="roundRect">
            <a:avLst/>
          </a:prstGeom>
          <a:solidFill>
            <a:srgbClr val="141A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366760" y="2743200"/>
            <a:ext cx="3200400" cy="36576"/>
          </a:xfrm>
          <a:prstGeom prst="rect">
            <a:avLst/>
          </a:prstGeom>
          <a:solidFill>
            <a:srgbClr val="F7D7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03920" y="301752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7D74D"/>
                </a:solidFill>
              </a:defRPr>
            </a:pPr>
            <a:r>
              <a:t>R3 双路裁决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0" y="3566160"/>
            <a:ext cx="2926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B949E"/>
                </a:solidFill>
              </a:defRPr>
            </a:pPr>
            <a:r>
              <a:t>人类 + 独立审计方共同裁决</a:t>
            </a:r>
            <a:br/>
            <a:r>
              <a:t>产出残差闭环账本</a:t>
            </a:r>
            <a:br/>
            <a:r>
              <a:t>未解决问题标为阻断信号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5577840"/>
            <a:ext cx="5303520" cy="731520"/>
          </a:xfrm>
          <a:prstGeom prst="roundRect">
            <a:avLst/>
          </a:prstGeom>
          <a:solidFill>
            <a:srgbClr val="141A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68680" y="5577840"/>
            <a:ext cx="5029200" cy="36576"/>
          </a:xfrm>
          <a:prstGeom prst="rect">
            <a:avLst/>
          </a:prstGeom>
          <a:solidFill>
            <a:srgbClr val="1A7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5840" y="566928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</a:defRPr>
            </a:pPr>
            <a:r>
              <a:t>成本：约 ¥5/次（小米 MiMo token plan）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0" y="5577840"/>
            <a:ext cx="5303520" cy="731520"/>
          </a:xfrm>
          <a:prstGeom prst="roundRect">
            <a:avLst/>
          </a:prstGeom>
          <a:solidFill>
            <a:srgbClr val="141A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537960" y="5577840"/>
            <a:ext cx="5029200" cy="36576"/>
          </a:xfrm>
          <a:prstGeom prst="rect">
            <a:avLst/>
          </a:prstGeom>
          <a:solidFill>
            <a:srgbClr val="FF65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75120" y="566928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</a:defRPr>
            </a:pPr>
            <a:r>
              <a:t>对比：人工 Code Review ≈ ¥5,000（5人×2h）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49E"/>
                </a:solidFill>
              </a:defRPr>
            </a:pPr>
            <a:r>
              <a:t>QueryForge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5568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8B949E"/>
                </a:solidFill>
              </a:defRPr>
            </a:pPr>
            <a: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548640"/>
            <a:ext cx="1645920" cy="320040"/>
          </a:xfrm>
          <a:prstGeom prst="roundRect">
            <a:avLst/>
          </a:prstGeom>
          <a:solidFill>
            <a:srgbClr val="1A2233"/>
          </a:solidFill>
          <a:ln w="12700">
            <a:solidFill>
              <a:srgbClr val="19D3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19D3C5"/>
                </a:solidFill>
              </a:defRPr>
            </a:pPr>
            <a:r>
              <a:t>TECH STACK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技术架构：全栈 TypeScript，云端部署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194560"/>
            <a:ext cx="3474720" cy="1920240"/>
          </a:xfrm>
          <a:prstGeom prst="roundRect">
            <a:avLst/>
          </a:prstGeom>
          <a:solidFill>
            <a:srgbClr val="141A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68680" y="2194560"/>
            <a:ext cx="3200400" cy="36576"/>
          </a:xfrm>
          <a:prstGeom prst="rect">
            <a:avLst/>
          </a:prstGeom>
          <a:solidFill>
            <a:srgbClr val="4A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468879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AA3FF"/>
                </a:solidFill>
              </a:defRPr>
            </a:pPr>
            <a:r>
              <a:t>前端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926080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B949E"/>
                </a:solidFill>
              </a:defRPr>
            </a:pPr>
            <a:r>
              <a:t>Next.js 14 · Tailwind CSS · Recharts</a:t>
            </a:r>
            <a:br/>
            <a:r>
              <a:t>响应式设计 · 深色主题 · KPI 仪表盘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80559" y="2194560"/>
            <a:ext cx="3474720" cy="1920240"/>
          </a:xfrm>
          <a:prstGeom prst="roundRect">
            <a:avLst/>
          </a:prstGeom>
          <a:solidFill>
            <a:srgbClr val="141A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617720" y="2194560"/>
            <a:ext cx="3200400" cy="36576"/>
          </a:xfrm>
          <a:prstGeom prst="rect">
            <a:avLst/>
          </a:prstGeom>
          <a:solidFill>
            <a:srgbClr val="19D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54879" y="2468879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9D3C5"/>
                </a:solidFill>
              </a:defRPr>
            </a:pPr>
            <a:r>
              <a:t>后端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79" y="2926080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B949E"/>
                </a:solidFill>
              </a:defRPr>
            </a:pPr>
            <a:r>
              <a:t>Next.js API Routes · better-sqlite3</a:t>
            </a:r>
            <a:br/>
            <a:r>
              <a:t>SQL AST 解析安全校验 · 自动 LIMIT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2194560"/>
            <a:ext cx="3474720" cy="1920240"/>
          </a:xfrm>
          <a:prstGeom prst="roundRect">
            <a:avLst/>
          </a:prstGeom>
          <a:solidFill>
            <a:srgbClr val="141A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366760" y="2194560"/>
            <a:ext cx="3200400" cy="36576"/>
          </a:xfrm>
          <a:prstGeom prst="rect">
            <a:avLst/>
          </a:prstGeom>
          <a:solidFill>
            <a:srgbClr val="F7D7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03920" y="2468879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7D74D"/>
                </a:solidFill>
              </a:defRPr>
            </a:pPr>
            <a:r>
              <a:t>AI 引擎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0" y="2926080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B949E"/>
                </a:solidFill>
              </a:defRPr>
            </a:pPr>
            <a:r>
              <a:t>MiMo v2.5 Pro（小米自研）</a:t>
            </a:r>
            <a:br/>
            <a:r>
              <a:t>Vercel AI SDK · 自纠正循环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4480560"/>
            <a:ext cx="3474720" cy="1920240"/>
          </a:xfrm>
          <a:prstGeom prst="roundRect">
            <a:avLst/>
          </a:prstGeom>
          <a:solidFill>
            <a:srgbClr val="141A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68680" y="4480560"/>
            <a:ext cx="3200400" cy="36576"/>
          </a:xfrm>
          <a:prstGeom prst="rect">
            <a:avLst/>
          </a:prstGeom>
          <a:solidFill>
            <a:srgbClr val="1A7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475488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7F37"/>
                </a:solidFill>
              </a:defRPr>
            </a:pPr>
            <a:r>
              <a:t>数据层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5212080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B949E"/>
                </a:solidFill>
              </a:defRPr>
            </a:pPr>
            <a:r>
              <a:t>SQLite · 10K 订单 · 500 商品</a:t>
            </a:r>
            <a:br/>
            <a:r>
              <a:t>8 地区 · 20 品类 · 6 渠道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480559" y="4480560"/>
            <a:ext cx="3474720" cy="1920240"/>
          </a:xfrm>
          <a:prstGeom prst="roundRect">
            <a:avLst/>
          </a:prstGeom>
          <a:solidFill>
            <a:srgbClr val="141A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617720" y="4480560"/>
            <a:ext cx="3200400" cy="36576"/>
          </a:xfrm>
          <a:prstGeom prst="rect">
            <a:avLst/>
          </a:prstGeom>
          <a:solidFill>
            <a:srgbClr val="FF65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754879" y="475488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657A"/>
                </a:solidFill>
              </a:defRPr>
            </a:pPr>
            <a:r>
              <a:t>部署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54879" y="5212080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B949E"/>
                </a:solidFill>
              </a:defRPr>
            </a:pPr>
            <a:r>
              <a:t>Railway 云端 24/7 在线</a:t>
            </a:r>
            <a:br/>
            <a:r>
              <a:t>GitHub 代码评审 · 不依赖本机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229600" y="4480560"/>
            <a:ext cx="3474720" cy="1920240"/>
          </a:xfrm>
          <a:prstGeom prst="roundRect">
            <a:avLst/>
          </a:prstGeom>
          <a:solidFill>
            <a:srgbClr val="141A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366760" y="4480560"/>
            <a:ext cx="3200400" cy="36576"/>
          </a:xfrm>
          <a:prstGeom prst="rect">
            <a:avLst/>
          </a:prstGeom>
          <a:solidFill>
            <a:srgbClr val="4A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503920" y="475488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AA3FF"/>
                </a:solidFill>
              </a:defRPr>
            </a:pPr>
            <a:r>
              <a:t>审查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03920" y="5212080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B949E"/>
                </a:solidFill>
              </a:defRPr>
            </a:pPr>
            <a:r>
              <a:t>QUINTE 五方对抗协议</a:t>
            </a:r>
            <a:br/>
            <a:r>
              <a:t>3 轮 × 5 方 = 39 份独立审计报告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49E"/>
                </a:solidFill>
              </a:defRPr>
            </a:pPr>
            <a:r>
              <a:t>QueryForge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15568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8B949E"/>
                </a:solidFill>
              </a:defRPr>
            </a:pPr>
            <a: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548640"/>
            <a:ext cx="1645920" cy="320040"/>
          </a:xfrm>
          <a:prstGeom prst="roundRect">
            <a:avLst/>
          </a:prstGeom>
          <a:solidFill>
            <a:srgbClr val="1A2233"/>
          </a:solidFill>
          <a:ln w="12700">
            <a:solidFill>
              <a:srgbClr val="F7D7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7D74D"/>
                </a:solidFill>
              </a:defRPr>
            </a:pPr>
            <a:r>
              <a:t>SCORE PROJECTION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评分预估：88-96 / 105 + 3 加分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194560"/>
            <a:ext cx="10698480" cy="457200"/>
          </a:xfrm>
          <a:prstGeom prst="roundRect">
            <a:avLst/>
          </a:prstGeom>
          <a:solidFill>
            <a:srgbClr val="141A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68680" y="2194560"/>
            <a:ext cx="10424159" cy="36576"/>
          </a:xfrm>
          <a:prstGeom prst="rect">
            <a:avLst/>
          </a:prstGeom>
          <a:solidFill>
            <a:srgbClr val="8B94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2402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8B949E"/>
                </a:solidFill>
              </a:defRPr>
            </a:pPr>
            <a:r>
              <a:t>维度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224028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8B949E"/>
                </a:solidFill>
              </a:defRPr>
            </a:pPr>
            <a:r>
              <a:t>满分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224028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8B949E"/>
                </a:solidFill>
              </a:defRPr>
            </a:pPr>
            <a:r>
              <a:t>预估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0" y="22402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8B949E"/>
                </a:solidFill>
              </a:defRPr>
            </a:pPr>
            <a:r>
              <a:t>依据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788920"/>
            <a:ext cx="10698480" cy="502920"/>
          </a:xfrm>
          <a:prstGeom prst="roundRect">
            <a:avLst/>
          </a:prstGeom>
          <a:solidFill>
            <a:srgbClr val="141A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68680" y="2788920"/>
            <a:ext cx="10424159" cy="36576"/>
          </a:xfrm>
          <a:prstGeom prst="rect">
            <a:avLst/>
          </a:prstGeom>
          <a:solidFill>
            <a:srgbClr val="8B94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28346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</a:defRPr>
            </a:pPr>
            <a:r>
              <a:t>Demo 现场可用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283464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8B949E"/>
                </a:solidFill>
              </a:defRPr>
            </a:pPr>
            <a:r>
              <a:t>25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283464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4AA3FF"/>
                </a:solidFill>
              </a:defRPr>
            </a:pPr>
            <a:r>
              <a:t>20-22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0" y="28346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49E"/>
                </a:solidFill>
              </a:defRPr>
            </a:pPr>
            <a:r>
              <a:t>公网部署 + 缓存 fallback + 流式进度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33832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</a:defRPr>
            </a:pPr>
            <a:r>
              <a:t>用户价值/PMF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338328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8B949E"/>
                </a:solidFill>
              </a:defRPr>
            </a:pPr>
            <a:r>
              <a:t>20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338328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9D3C5"/>
                </a:solidFill>
              </a:defRPr>
            </a:pPr>
            <a:r>
              <a:t>16-18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33832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49E"/>
                </a:solidFill>
              </a:defRPr>
            </a:pPr>
            <a:r>
              <a:t>真实痛点 + 自然语言接口 + 仪表盘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3886200"/>
            <a:ext cx="10698480" cy="502920"/>
          </a:xfrm>
          <a:prstGeom prst="roundRect">
            <a:avLst/>
          </a:prstGeom>
          <a:solidFill>
            <a:srgbClr val="141A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68680" y="3886200"/>
            <a:ext cx="10424159" cy="36576"/>
          </a:xfrm>
          <a:prstGeom prst="rect">
            <a:avLst/>
          </a:prstGeom>
          <a:solidFill>
            <a:srgbClr val="8B94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5840" y="39319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</a:defRPr>
            </a:pPr>
            <a:r>
              <a:t>技术实现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39319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8B949E"/>
                </a:solidFill>
              </a:defRPr>
            </a:pPr>
            <a:r>
              <a:t>20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39319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A7F37"/>
                </a:solidFill>
              </a:defRPr>
            </a:pPr>
            <a:r>
              <a:t>16-18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0" y="39319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49E"/>
                </a:solidFill>
              </a:defRPr>
            </a:pPr>
            <a:r>
              <a:t>AI SDK + AST 校验 + 自纠正 + 对抗审查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44805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</a:defRPr>
            </a:pPr>
            <a:r>
              <a:t>创新性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0" y="44805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8B949E"/>
                </a:solidFill>
              </a:defRPr>
            </a:pPr>
            <a:r>
              <a:t>15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44805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7D74D"/>
                </a:solidFill>
              </a:defRPr>
            </a:pPr>
            <a:r>
              <a:t>11-13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0" y="44805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49E"/>
                </a:solidFill>
              </a:defRPr>
            </a:pPr>
            <a:r>
              <a:t>自纠正循环 + QUINTE 方法论 + 流式进度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31520" y="4983480"/>
            <a:ext cx="10698480" cy="502920"/>
          </a:xfrm>
          <a:prstGeom prst="roundRect">
            <a:avLst/>
          </a:prstGeom>
          <a:solidFill>
            <a:srgbClr val="141A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68680" y="4983480"/>
            <a:ext cx="10424159" cy="36576"/>
          </a:xfrm>
          <a:prstGeom prst="rect">
            <a:avLst/>
          </a:prstGeom>
          <a:solidFill>
            <a:srgbClr val="8B94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05840" y="50292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</a:defRPr>
            </a:pPr>
            <a:r>
              <a:t>商业潜力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0" y="50292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8B949E"/>
                </a:solidFill>
              </a:defRPr>
            </a:pPr>
            <a:r>
              <a:t>10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0" y="50292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657A"/>
                </a:solidFill>
              </a:defRPr>
            </a:pPr>
            <a:r>
              <a:t>7-8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29600" y="50292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49E"/>
                </a:solidFill>
              </a:defRPr>
            </a:pPr>
            <a:r>
              <a:t>SaaS 模式 + 真实数据 + 商业指标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05840" y="55778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</a:defRPr>
            </a:pPr>
            <a:r>
              <a:t>路演表达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0" y="557784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8B949E"/>
                </a:solidFill>
              </a:defRPr>
            </a:pPr>
            <a:r>
              <a:t>10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0" y="557784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4AA3FF"/>
                </a:solidFill>
              </a:defRPr>
            </a:pPr>
            <a:r>
              <a:t>8-9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29600" y="55778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49E"/>
                </a:solidFill>
              </a:defRPr>
            </a:pPr>
            <a:r>
              <a:t>故事线 + 排练 + PPT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31520" y="6126480"/>
            <a:ext cx="5029200" cy="457200"/>
          </a:xfrm>
          <a:prstGeom prst="roundRect">
            <a:avLst/>
          </a:prstGeom>
          <a:solidFill>
            <a:srgbClr val="141A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868680" y="6126480"/>
            <a:ext cx="4754880" cy="36576"/>
          </a:xfrm>
          <a:prstGeom prst="rect">
            <a:avLst/>
          </a:prstGeom>
          <a:solidFill>
            <a:srgbClr val="1A7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05840" y="61722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</a:defRPr>
            </a:pPr>
            <a:r>
              <a:t>加分：ClawHunt 上架 +3 · 游园展示 +2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126480" y="6126480"/>
            <a:ext cx="5303520" cy="457200"/>
          </a:xfrm>
          <a:prstGeom prst="roundRect">
            <a:avLst/>
          </a:prstGeom>
          <a:solidFill>
            <a:srgbClr val="141A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263640" y="6126480"/>
            <a:ext cx="5029200" cy="36576"/>
          </a:xfrm>
          <a:prstGeom prst="rect">
            <a:avLst/>
          </a:prstGeom>
          <a:solidFill>
            <a:srgbClr val="F7D7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400800" y="617220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</a:defRPr>
            </a:pPr>
            <a:r>
              <a:t>总计预估：91-101 / 105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3152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49E"/>
                </a:solidFill>
              </a:defRPr>
            </a:pPr>
            <a:r>
              <a:t>QueryForge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115568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8B949E"/>
                </a:solidFill>
              </a:defRPr>
            </a:pPr>
            <a: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548640"/>
            <a:ext cx="1645920" cy="320040"/>
          </a:xfrm>
          <a:prstGeom prst="roundRect">
            <a:avLst/>
          </a:prstGeom>
          <a:solidFill>
            <a:srgbClr val="1A2233"/>
          </a:solidFill>
          <a:ln w="12700">
            <a:solidFill>
              <a:srgbClr val="1A7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1A7F37"/>
                </a:solidFill>
              </a:defRPr>
            </a:pPr>
            <a:r>
              <a:t>BUSINESS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商业潜力：SaaS 订阅 + 真实数据 demo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194560"/>
            <a:ext cx="5303520" cy="3840480"/>
          </a:xfrm>
          <a:prstGeom prst="roundRect">
            <a:avLst/>
          </a:prstGeom>
          <a:solidFill>
            <a:srgbClr val="141A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68680" y="2194560"/>
            <a:ext cx="5029200" cy="36576"/>
          </a:xfrm>
          <a:prstGeom prst="rect">
            <a:avLst/>
          </a:prstGeom>
          <a:solidFill>
            <a:srgbClr val="4A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46888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4AA3FF"/>
                </a:solidFill>
              </a:defRPr>
            </a:pPr>
            <a:r>
              <a:t>市场规模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3017520"/>
            <a:ext cx="47548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B949E"/>
                </a:solidFill>
              </a:defRPr>
            </a:pPr>
            <a:r>
              <a:t>• 中国 BI 市场规模：¥200亿+（2025）</a:t>
            </a:r>
            <a:br/>
            <a:r>
              <a:t>• 中小企业数据分析渗透率 &lt; 15%</a:t>
            </a:r>
            <a:br/>
            <a:r>
              <a:t>• 自然语言 BI 是下一代趋势</a:t>
            </a:r>
            <a:br/>
            <a:br/>
            <a:r>
              <a:t>目标用户</a:t>
            </a:r>
            <a:br/>
            <a:r>
              <a:t>• 运营/销售管理者（不会 SQL）</a:t>
            </a:r>
            <a:br/>
            <a:r>
              <a:t>• 数据分析师（加速探索）</a:t>
            </a:r>
            <a:br/>
            <a:r>
              <a:t>• 中小企业老板（快速决策）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2194560"/>
            <a:ext cx="5303520" cy="3840480"/>
          </a:xfrm>
          <a:prstGeom prst="roundRect">
            <a:avLst/>
          </a:prstGeom>
          <a:solidFill>
            <a:srgbClr val="141A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37960" y="2194560"/>
            <a:ext cx="5029200" cy="36576"/>
          </a:xfrm>
          <a:prstGeom prst="rect">
            <a:avLst/>
          </a:prstGeom>
          <a:solidFill>
            <a:srgbClr val="19D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75120" y="246888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9D3C5"/>
                </a:solidFill>
              </a:defRPr>
            </a:pPr>
            <a:r>
              <a:t>商业模式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0" y="3017520"/>
            <a:ext cx="47548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B949E"/>
                </a:solidFill>
              </a:defRPr>
            </a:pPr>
            <a:r>
              <a:t>SaaS 订阅制</a:t>
            </a:r>
            <a:br/>
            <a:r>
              <a:t>• 免费版：5 次/天查询</a:t>
            </a:r>
            <a:br/>
            <a:r>
              <a:t>• Pro 版：¥99/月，无限查询</a:t>
            </a:r>
            <a:br/>
            <a:r>
              <a:t>• 企业版：¥999/月，私有部署</a:t>
            </a:r>
            <a:br/>
            <a:br/>
            <a:r>
              <a:t>竞争优势</a:t>
            </a:r>
            <a:br/>
            <a:r>
              <a:t>• 真正的 AI 推理（非关键词匹配）</a:t>
            </a:r>
            <a:br/>
            <a:r>
              <a:t>• 自纠正保证查询成功率</a:t>
            </a:r>
            <a:br/>
            <a:r>
              <a:t>• 五方审查保证代码质量</a:t>
            </a:r>
            <a:br/>
            <a:r>
              <a:t>• 成本极低（MiMo token plan）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49E"/>
                </a:solidFill>
              </a:defRPr>
            </a:pPr>
            <a:r>
              <a:t>QueryForge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5568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8B949E"/>
                </a:solidFill>
              </a:defRPr>
            </a:pPr>
            <a: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548640"/>
            <a:ext cx="1645920" cy="320040"/>
          </a:xfrm>
          <a:prstGeom prst="roundRect">
            <a:avLst/>
          </a:prstGeom>
          <a:solidFill>
            <a:srgbClr val="1A2233"/>
          </a:solidFill>
          <a:ln w="12700">
            <a:solidFill>
              <a:srgbClr val="FF65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657A"/>
                </a:solidFill>
              </a:defRPr>
            </a:pPr>
            <a:r>
              <a:t>LIVE 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现场演示：queryforge-production-8d6f.up.railway.app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2286000"/>
            <a:ext cx="2103120" cy="3200400"/>
          </a:xfrm>
          <a:prstGeom prst="roundRect">
            <a:avLst/>
          </a:prstGeom>
          <a:solidFill>
            <a:srgbClr val="141A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94360" y="2286000"/>
            <a:ext cx="1828799" cy="36576"/>
          </a:xfrm>
          <a:prstGeom prst="rect">
            <a:avLst/>
          </a:prstGeom>
          <a:solidFill>
            <a:srgbClr val="4A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24688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4AA3FF"/>
                </a:solidFill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9260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点击预设查询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3474720"/>
            <a:ext cx="1828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8B949E"/>
                </a:solidFill>
              </a:defRPr>
            </a:pPr>
            <a:r>
              <a:t>展示 AI 生成 SQL + 图表</a:t>
            </a:r>
            <a:br/>
            <a:r>
              <a:t>流式进度推送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43200" y="2286000"/>
            <a:ext cx="2103120" cy="3200400"/>
          </a:xfrm>
          <a:prstGeom prst="roundRect">
            <a:avLst/>
          </a:prstGeom>
          <a:solidFill>
            <a:srgbClr val="141A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880360" y="2286000"/>
            <a:ext cx="1828799" cy="36576"/>
          </a:xfrm>
          <a:prstGeom prst="rect">
            <a:avLst/>
          </a:prstGeom>
          <a:solidFill>
            <a:srgbClr val="19D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80360" y="24688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19D3C5"/>
                </a:solidFill>
              </a:defRPr>
            </a:pPr>
            <a: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80360" y="29260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自由提问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80360" y="3474720"/>
            <a:ext cx="1828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8B949E"/>
                </a:solidFill>
              </a:defRPr>
            </a:pPr>
            <a:r>
              <a:t>"最近三个月哪个品类增长最快"</a:t>
            </a:r>
            <a:br/>
            <a:r>
              <a:t>展示 AI 理解开放式问题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0" y="2286000"/>
            <a:ext cx="2103120" cy="3200400"/>
          </a:xfrm>
          <a:prstGeom prst="roundRect">
            <a:avLst/>
          </a:prstGeom>
          <a:solidFill>
            <a:srgbClr val="141A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166360" y="2286000"/>
            <a:ext cx="1828799" cy="36576"/>
          </a:xfrm>
          <a:prstGeom prst="rect">
            <a:avLst/>
          </a:prstGeom>
          <a:solidFill>
            <a:srgbClr val="1A7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166360" y="24688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1A7F37"/>
                </a:solidFill>
              </a:defRPr>
            </a:pPr>
            <a: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66360" y="29260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仪表盘联动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66360" y="3474720"/>
            <a:ext cx="1828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8B949E"/>
                </a:solidFill>
              </a:defRPr>
            </a:pPr>
            <a:r>
              <a:t>8 个 KPI 指标 + 6 个图表</a:t>
            </a:r>
            <a:br/>
            <a:r>
              <a:t>全部真实数据库数据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0" y="2286000"/>
            <a:ext cx="2103120" cy="3200400"/>
          </a:xfrm>
          <a:prstGeom prst="roundRect">
            <a:avLst/>
          </a:prstGeom>
          <a:solidFill>
            <a:srgbClr val="141A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452360" y="2286000"/>
            <a:ext cx="1828799" cy="36576"/>
          </a:xfrm>
          <a:prstGeom prst="rect">
            <a:avLst/>
          </a:prstGeom>
          <a:solidFill>
            <a:srgbClr val="F7D7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52360" y="24688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7D74D"/>
                </a:solidFill>
              </a:defRPr>
            </a:pPr>
            <a: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52360" y="29260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指标保存复用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52360" y="3474720"/>
            <a:ext cx="1828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8B949E"/>
                </a:solidFill>
              </a:defRPr>
            </a:pPr>
            <a:r>
              <a:t>侧边栏保存/删除/复用</a:t>
            </a:r>
            <a:br/>
            <a:r>
              <a:t>localStorage 持久化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601200" y="2286000"/>
            <a:ext cx="2103120" cy="3200400"/>
          </a:xfrm>
          <a:prstGeom prst="roundRect">
            <a:avLst/>
          </a:prstGeom>
          <a:solidFill>
            <a:srgbClr val="141A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738360" y="2286000"/>
            <a:ext cx="1828799" cy="36576"/>
          </a:xfrm>
          <a:prstGeom prst="rect">
            <a:avLst/>
          </a:prstGeom>
          <a:solidFill>
            <a:srgbClr val="FF65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738360" y="24688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657A"/>
                </a:solidFill>
              </a:defRPr>
            </a:pPr>
            <a:r>
              <a:t>05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738360" y="29260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自纠正演示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738360" y="3474720"/>
            <a:ext cx="1828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8B949E"/>
                </a:solidFill>
              </a:defRPr>
            </a:pPr>
            <a:r>
              <a:t>SQL 报错 → 自动修正</a:t>
            </a:r>
            <a:br/>
            <a:r>
              <a:t>展示修正过程和结果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585216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4AA3FF"/>
                </a:solidFill>
              </a:defRPr>
            </a:pPr>
            <a:r>
              <a:t>产品地址：queryforge-production-8d6f.up.railway.app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" y="62179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B949E"/>
                </a:solidFill>
              </a:defRPr>
            </a:pPr>
            <a:r>
              <a:t>代码仓库：github.com/eric-stone-plus/queryforge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49E"/>
                </a:solidFill>
              </a:defRPr>
            </a:pPr>
            <a:r>
              <a:t>QueryForge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15568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8B949E"/>
                </a:solidFill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600" b="1">
                <a:solidFill>
                  <a:srgbClr val="4AA3FF"/>
                </a:solidFill>
              </a:defRPr>
            </a:pPr>
            <a:r>
              <a:t>QueryForge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004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FFFFFF"/>
                </a:solidFill>
              </a:defRPr>
            </a:pPr>
            <a:r>
              <a:t>让每个人都能用数据说话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3891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4AA3FF"/>
                </a:solidFill>
              </a:defRPr>
            </a:pPr>
            <a:r>
              <a:t>queryforge-production-8d6f.up.railway.app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0292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B949E"/>
                </a:solidFill>
              </a:defRPr>
            </a:pPr>
            <a:r>
              <a:t>github.com/eric-stone-plus/queryforge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6692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B949E"/>
                </a:solidFill>
              </a:defRPr>
            </a:pPr>
            <a:r>
              <a:t>ClawHunt Builder Camp 2026 · Track A: Agents at 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49E"/>
                </a:solidFill>
              </a:defRPr>
            </a:pPr>
            <a:r>
              <a:t>QueryForge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8B949E"/>
                </a:solidFill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