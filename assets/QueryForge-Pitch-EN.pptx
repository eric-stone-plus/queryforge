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4980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800" b="1">
                <a:solidFill>
                  <a:srgbClr val="FFB300"/>
                </a:solidFill>
                <a:latin typeface="Aptos Display"/>
              </a:rPr>
              <a:t>QueryForge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148840"/>
            <a:ext cx="2331720" cy="50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523744"/>
            <a:ext cx="71323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FFFFFF"/>
                </a:solidFill>
                <a:latin typeface="Aptos"/>
              </a:rPr>
              <a:t>Natural-language business data queries with charts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56432"/>
            <a:ext cx="6583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B0BEC5"/>
                </a:solidFill>
                <a:latin typeface="Aptos"/>
              </a:rPr>
              <a:t>Business users ask a question, QueryForge fetches the data, and the answer appears as KPI cards, charts, or reusable dashboard views.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005840"/>
            <a:ext cx="3154680" cy="347472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67344" y="12984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LIVE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7344" y="1664208"/>
            <a:ext cx="2542032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Built in 72 hours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B0BEC5"/>
                </a:solidFill>
                <a:latin typeface="Aptos"/>
              </a:rPr>
              <a:t>ClawHunt Builder Camp 2026 hackathon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500" b="0">
                <a:solidFill>
                  <a:srgbClr val="B0BEC5"/>
                </a:solidFill>
                <a:latin typeface="Aptos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Powered by MiMo v2.5 Pro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B0BEC5"/>
                </a:solidFill>
                <a:latin typeface="Aptos"/>
              </a:rPr>
              <a:t>Model used in the live demo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500" b="0">
                <a:solidFill>
                  <a:srgbClr val="B0BEC5"/>
                </a:solidFill>
                <a:latin typeface="Aptos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Demo data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B0BEC5"/>
                </a:solidFill>
                <a:latin typeface="Aptos"/>
              </a:rPr>
              <a:t>10K orders | 500 products | 1,000 users | 8 regions | 20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888736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58A6FF"/>
                </a:solidFill>
                <a:latin typeface="Aptos"/>
              </a:rPr>
              <a:t>queryforge-production-8d6f.up.railway.app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FFFFF"/>
                </a:solidFill>
                <a:latin typeface="Aptos Display"/>
              </a:rPr>
              <a:t>The bottleneck is request handling, not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96596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When business teams need answers, every clarification becomes another handoff.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48256"/>
            <a:ext cx="5257800" cy="3584448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48256"/>
            <a:ext cx="50800" cy="35844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31136"/>
            <a:ext cx="4855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ptos"/>
              </a:rPr>
              <a:t>Analyst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624328"/>
            <a:ext cx="4855464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B0BEC5"/>
                </a:solidFill>
                <a:latin typeface="Aptos"/>
              </a:rPr>
              <a:t>Same metric is requested by multiple teams in slightly different words.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B0BEC5"/>
                </a:solidFill>
                <a:latin typeface="Aptos"/>
              </a:rPr>
              <a:t>Questions arrive as ad hoc requests, follow-ups, and revised definitions.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B0BEC5"/>
                </a:solidFill>
                <a:latin typeface="Aptos"/>
              </a:rPr>
              <a:t>Analysts spend attention on recreating views instead of interpreting the business.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4" y="2048256"/>
            <a:ext cx="5257800" cy="3584448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2048256"/>
            <a:ext cx="50800" cy="35844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231136"/>
            <a:ext cx="48554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Aptos"/>
              </a:rPr>
              <a:t>Business waiting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624328"/>
            <a:ext cx="4855464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B0BEC5"/>
                </a:solidFill>
                <a:latin typeface="Aptos"/>
              </a:rPr>
              <a:t>Revenue, category, channel, and customer questions come up during operating reviews.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B0BEC5"/>
                </a:solidFill>
                <a:latin typeface="Aptos"/>
              </a:rPr>
              <a:t>Teams need a chart they can inspect immediately, not another request thread.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B0BEC5"/>
                </a:solidFill>
                <a:latin typeface="Aptos"/>
              </a:rPr>
              <a:t>Metric definitions have to stay consistent as more people reuse the answer.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989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The product opportunity: make common business questions self-service while keeping analyst-defined metrics reusable.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FFFFF"/>
                </a:solidFill>
                <a:latin typeface="Aptos Display"/>
              </a:rPr>
              <a:t>Analysts define the metric library once; business users self-serve.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96596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QueryForge turns the analyst role from repeated report builder into metric owner.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3364992" cy="338328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396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B30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ptos"/>
              </a:rPr>
              <a:t>Analyst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52928"/>
            <a:ext cx="3035808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0BEC5"/>
                </a:solidFill>
                <a:latin typeface="Aptos"/>
              </a:rPr>
              <a:t>Define preset metrics once: revenue trend, category margin, top products, channel orders, and repeat buyer views.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3639312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B300"/>
                </a:solidFill>
                <a:latin typeface="Aptos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2011680"/>
            <a:ext cx="3364992" cy="338328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21396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8A6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468880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ptos"/>
              </a:rPr>
              <a:t>Business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852928"/>
            <a:ext cx="3035808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0BEC5"/>
                </a:solidFill>
                <a:latin typeface="Aptos"/>
              </a:rPr>
              <a:t>Users type a natural-language question or rerun a saved metric from the library.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639312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B300"/>
                </a:solidFill>
                <a:latin typeface="Aptos"/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2011680"/>
            <a:ext cx="3364992" cy="338328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1396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4CAF5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468880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ptos"/>
              </a:rPr>
              <a:t>Reusable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852928"/>
            <a:ext cx="3035808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0BEC5"/>
                </a:solidFill>
                <a:latin typeface="Aptos"/>
              </a:rPr>
              <a:t>Charts, KPI cards, progress streaming, and self-correction keep the answer usable in front of the business.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4243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Core capability: plain-language data access that preserves analyst-defined business meaning.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FFFFF"/>
                </a:solidFill>
                <a:latin typeface="Aptos Display"/>
              </a:rPr>
              <a:t>The live product already combines questions, KPI cards, and dashboard panels.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96596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Screenshots are from the deployed QueryForge demo with actual demo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32461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Natural-language entry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20" b="0">
                <a:solidFill>
                  <a:srgbClr val="B0BEC5"/>
                </a:solidFill>
                <a:latin typeface="Aptos"/>
              </a:rPr>
              <a:t>A user types a business question and gets a charted answer.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400" b="0">
                <a:solidFill>
                  <a:srgbClr val="B0BEC5"/>
                </a:solidFill>
                <a:latin typeface="Aptos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8 KPI cards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20" b="0">
                <a:solidFill>
                  <a:srgbClr val="B0BEC5"/>
                </a:solidFill>
                <a:latin typeface="Aptos"/>
              </a:rPr>
              <a:t>Revenue, AOV, margin, repeat rate, completion, refund, basket, active buyers.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400" b="0">
                <a:solidFill>
                  <a:srgbClr val="B0BEC5"/>
                </a:solidFill>
                <a:latin typeface="Aptos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6 dashboard panels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20" b="0">
                <a:solidFill>
                  <a:srgbClr val="B0BEC5"/>
                </a:solidFill>
                <a:latin typeface="Aptos"/>
              </a:rPr>
              <a:t>Region bar, category pie, monthly trend, channel bar, top products, user segments.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400" b="0">
                <a:solidFill>
                  <a:srgbClr val="B0BEC5"/>
                </a:solidFill>
                <a:latin typeface="Aptos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Preset metric library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20" b="0">
                <a:solidFill>
                  <a:srgbClr val="B0BEC5"/>
                </a:solidFill>
                <a:latin typeface="Aptos"/>
              </a:rPr>
              <a:t>Analysts create reusable metrics that business users can rerun.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280" y="1730248"/>
            <a:ext cx="7228840" cy="581152"/>
          </a:xfrm>
          <a:prstGeom prst="rect">
            <a:avLst/>
          </a:prstGeom>
          <a:solidFill>
            <a:srgbClr val="F7FAFC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57951"/>
            <a:ext cx="7178040" cy="5257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72280" y="2516632"/>
            <a:ext cx="4275328" cy="334264"/>
          </a:xfrm>
          <a:prstGeom prst="rect">
            <a:avLst/>
          </a:prstGeom>
          <a:solidFill>
            <a:srgbClr val="F7FAFC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-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542584"/>
            <a:ext cx="4224528" cy="2823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972296" y="2370328"/>
            <a:ext cx="1468120" cy="1678432"/>
          </a:xfrm>
          <a:prstGeom prst="rect">
            <a:avLst/>
          </a:prstGeom>
          <a:solidFill>
            <a:srgbClr val="F7FAFC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rop-libr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647" y="2395728"/>
            <a:ext cx="1401418" cy="162763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72280" y="3028696"/>
            <a:ext cx="2190496" cy="3123184"/>
          </a:xfrm>
          <a:prstGeom prst="rect">
            <a:avLst/>
          </a:prstGeom>
          <a:solidFill>
            <a:srgbClr val="F7FAFC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rop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804" y="3054096"/>
            <a:ext cx="1683448" cy="3072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6560" y="385876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FFFFFF"/>
                </a:solidFill>
                <a:latin typeface="Aptos"/>
              </a:rPr>
              <a:t>Dashboard remains visible while the user asks or reruns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425696"/>
            <a:ext cx="4251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30" b="0">
                <a:solidFill>
                  <a:srgbClr val="B0BEC5"/>
                </a:solidFill>
                <a:latin typeface="Aptos"/>
              </a:rPr>
              <a:t>The product view is built around business application: operating health, regional performance, channel mix, product focus, and user segmentation.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DATA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FFFFF"/>
                </a:solidFill>
                <a:latin typeface="Aptos Display"/>
              </a:rPr>
              <a:t>Eight KPI cards are backed by the demo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96596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The dashboard summarizes the operating view business users can reuse.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01952"/>
            <a:ext cx="2587752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66544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0BEC5"/>
                </a:solidFill>
                <a:latin typeface="Aptos"/>
              </a:rP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B300"/>
                </a:solidFill>
                <a:latin typeface="Aptos Display"/>
              </a:rPr>
              <a:t>¥232M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B0BEC5"/>
                </a:solidFill>
                <a:latin typeface="Aptos"/>
              </a:rPr>
              <a:t>30-month demo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901952"/>
            <a:ext cx="2587752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066544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0BEC5"/>
                </a:solidFill>
                <a:latin typeface="Aptos"/>
              </a:rP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59152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B300"/>
                </a:solidFill>
                <a:latin typeface="Aptos Display"/>
              </a:rPr>
              <a:t>¥23K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871216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B0BEC5"/>
                </a:solidFill>
                <a:latin typeface="Aptos"/>
              </a:rPr>
              <a:t>Average order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1072" y="1901952"/>
            <a:ext cx="2587752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066544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0BEC5"/>
                </a:solidFill>
                <a:latin typeface="Aptos"/>
              </a:rP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359152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4CAF50"/>
                </a:solidFill>
                <a:latin typeface="Aptos Display"/>
              </a:rPr>
              <a:t>46.7%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871216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B0BEC5"/>
                </a:solidFill>
                <a:latin typeface="Aptos"/>
              </a:rPr>
              <a:t>All-category 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901952"/>
            <a:ext cx="2587752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2066544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0BEC5"/>
                </a:solidFill>
                <a:latin typeface="Aptos"/>
              </a:rPr>
              <a:t>REPEAT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2359152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4CAF50"/>
                </a:solidFill>
                <a:latin typeface="Aptos Display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871216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B0BEC5"/>
                </a:solidFill>
                <a:latin typeface="Aptos"/>
              </a:rPr>
              <a:t>1,000 active buyers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84448"/>
            <a:ext cx="2587752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49040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0BEC5"/>
                </a:solidFill>
                <a:latin typeface="Aptos"/>
              </a:rPr>
              <a:t>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41648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58A6FF"/>
                </a:solidFill>
                <a:latin typeface="Aptos Display"/>
              </a:rPr>
              <a:t>66.5%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53712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B0BEC5"/>
                </a:solidFill>
                <a:latin typeface="Aptos"/>
              </a:rPr>
              <a:t>6,650 completed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3584448"/>
            <a:ext cx="2587752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3749040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0BEC5"/>
                </a:solidFill>
                <a:latin typeface="Aptos"/>
              </a:rPr>
              <a:t>REFUND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2" y="4041648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6B6B"/>
                </a:solidFill>
                <a:latin typeface="Aptos Display"/>
              </a:rPr>
              <a:t>16.6%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4553712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B0BEC5"/>
                </a:solidFill>
                <a:latin typeface="Aptos"/>
              </a:rPr>
              <a:t>1,664 refunded orders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1072" y="3584448"/>
            <a:ext cx="2587752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3749040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0BEC5"/>
                </a:solidFill>
                <a:latin typeface="Aptos"/>
              </a:rPr>
              <a:t>BASKET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041648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B300"/>
                </a:solidFill>
                <a:latin typeface="Aptos Display"/>
              </a:rPr>
              <a:t>2.5 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4553712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B0BEC5"/>
                </a:solidFill>
                <a:latin typeface="Aptos"/>
              </a:rPr>
              <a:t>Average items per order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07424" y="3584448"/>
            <a:ext cx="2587752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3749040"/>
            <a:ext cx="2258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B0BEC5"/>
                </a:solidFill>
                <a:latin typeface="Aptos"/>
              </a:rPr>
              <a:t>ACTIVE BUYERS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6" y="4041648"/>
            <a:ext cx="22585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58A6FF"/>
                </a:solidFill>
                <a:latin typeface="Aptos Display"/>
              </a:rPr>
              <a:t>1,000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4553712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B0BEC5"/>
                </a:solidFill>
                <a:latin typeface="Aptos"/>
              </a:rPr>
              <a:t>Across 20 categories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21808"/>
            <a:ext cx="10863072" cy="566928"/>
          </a:xfrm>
          <a:prstGeom prst="rect">
            <a:avLst/>
          </a:prstGeom>
          <a:solidFill>
            <a:srgbClr val="17243F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504688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Demo data scope: 10K orders | 500 products | 1,000 users | 8 regions | 20 categories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FFFFF"/>
                </a:solidFill>
                <a:latin typeface="Aptos Display"/>
              </a:rPr>
              <a:t>Question to answer, with progress visible throughout.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96596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The flow is designed for business users: ask, watch progress, inspect the chart, reuse the metric.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2057400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6654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B30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0BEC5"/>
                </a:solidFill>
                <a:latin typeface="Aptos"/>
              </a:rPr>
              <a:t>Type a business question in natural language.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514600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B300"/>
                </a:solidFill>
                <a:latin typeface="Aptos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938528"/>
            <a:ext cx="2057400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206654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58A6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9572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ptos"/>
              </a:rPr>
              <a:t>Stream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0BEC5"/>
                </a:solidFill>
                <a:latin typeface="Aptos"/>
              </a:rPr>
              <a:t>Progress updates show what is happening.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2514600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B300"/>
                </a:solidFill>
                <a:latin typeface="Aptos"/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938528"/>
            <a:ext cx="2057400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06654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4CAF5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39572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0BEC5"/>
                </a:solidFill>
                <a:latin typeface="Aptos"/>
              </a:rPr>
              <a:t>Data appears as charts, tables, or KPI cards.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6" y="2514600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FFB300"/>
                </a:solidFill>
                <a:latin typeface="Aptos"/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264" y="1938528"/>
            <a:ext cx="2057400" cy="137160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206654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FFB300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395728"/>
            <a:ext cx="1728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ptos"/>
              </a:rPr>
              <a:t>Reuse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6" y="2779776"/>
            <a:ext cx="17282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B0BEC5"/>
                </a:solidFill>
                <a:latin typeface="Aptos"/>
              </a:rPr>
              <a:t>Save useful answers into the metric library.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4187952"/>
            <a:ext cx="7635240" cy="1078992"/>
          </a:xfrm>
          <a:prstGeom prst="rect">
            <a:avLst/>
          </a:prstGeom>
          <a:solidFill>
            <a:srgbClr val="17243F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23744" y="442569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Self-correction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40740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0BEC5"/>
                </a:solidFill>
                <a:latin typeface="Aptos"/>
              </a:rPr>
              <a:t>If a query fails, QueryForge fixes the attempt and retries so the user can stay focused on the business question.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76072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No handoff is required for routine data questions once the metrics have been set up.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FFFFF"/>
                </a:solidFill>
                <a:latin typeface="Aptos Display"/>
              </a:rPr>
              <a:t>The demo scenarios map directly to operating questions.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96596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Each scenario starts with a business question and ends with a reusable visual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5285232" cy="1261872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03120"/>
            <a:ext cx="4882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Regional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68880"/>
            <a:ext cx="4882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0BEC5"/>
                </a:solidFill>
                <a:latin typeface="Aptos"/>
              </a:rPr>
              <a:t>How are regions contributing to revenue over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16352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B300"/>
                </a:solidFill>
                <a:latin typeface="Aptos"/>
              </a:rPr>
              <a:t>Output: region distribution and monthly trend.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1938528"/>
            <a:ext cx="5285232" cy="1261872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103120"/>
            <a:ext cx="4882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Category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468880"/>
            <a:ext cx="4882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0BEC5"/>
                </a:solidFill>
                <a:latin typeface="Aptos"/>
              </a:rPr>
              <a:t>Which categories carry the strongest margin?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816352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B300"/>
                </a:solidFill>
                <a:latin typeface="Aptos"/>
              </a:rPr>
              <a:t>Output: category comparison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93008"/>
            <a:ext cx="5285232" cy="1261872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657600"/>
            <a:ext cx="4882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Product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023360"/>
            <a:ext cx="4882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0BEC5"/>
                </a:solidFill>
                <a:latin typeface="Aptos"/>
              </a:rPr>
              <a:t>Which products are driving the most revenue?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370832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B300"/>
                </a:solidFill>
                <a:latin typeface="Aptos"/>
              </a:rPr>
              <a:t>Output: top products 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3493008"/>
            <a:ext cx="5285232" cy="1261872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657600"/>
            <a:ext cx="48828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Aptos"/>
              </a:rPr>
              <a:t>Customer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023360"/>
            <a:ext cx="4882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B0BEC5"/>
                </a:solidFill>
                <a:latin typeface="Aptos"/>
              </a:rPr>
              <a:t>Which buyers and segments show repeat activity?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370832"/>
            <a:ext cx="4882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FFB300"/>
                </a:solidFill>
                <a:latin typeface="Aptos"/>
              </a:rPr>
              <a:t>Output: repeat buyer and user segment views.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797296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The same surface supports quick exploration and repeated management reporting.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FFFFFF"/>
                </a:solidFill>
                <a:latin typeface="Aptos Display"/>
              </a:rPr>
              <a:t>Move from a hackathon demo to a business-ready tool.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965960" cy="381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The roadmap extends the existing product without adding unsupported market or revenue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10881360" cy="950976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B300"/>
                </a:solidFill>
                <a:latin typeface="Aptos"/>
              </a:rPr>
              <a:t>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8" y="2194560"/>
            <a:ext cx="7909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Harden the live environment, improve onboarding, and make the demo easier to hand off to evaluators or early users.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73552"/>
            <a:ext cx="10881360" cy="950976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B300"/>
                </a:solidFill>
                <a:latin typeface="Aptos"/>
              </a:rPr>
              <a:t>More 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3456432"/>
            <a:ext cx="7909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Connect additional business datasets beyond the ecommerce demo while preserving the same question-to-chart experience.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35424"/>
            <a:ext cx="10881360" cy="950976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B300"/>
                </a:solidFill>
                <a:latin typeface="Aptos"/>
              </a:rPr>
              <a:t>Team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4718304"/>
            <a:ext cx="79095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B0BEC5"/>
                </a:solidFill>
                <a:latin typeface="Aptos"/>
              </a:rPr>
              <a:t>Add shared metric libraries, saved views, and collaboration controls for analysts and business stakeholders.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0467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FFB300"/>
                </a:solidFill>
                <a:latin typeface="Aptos"/>
              </a:rPr>
              <a:t>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658368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500" b="1">
                <a:solidFill>
                  <a:srgbClr val="FFB300"/>
                </a:solidFill>
                <a:latin typeface="Aptos Display"/>
              </a:rPr>
              <a:t>QueryForge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12848"/>
            <a:ext cx="2331720" cy="50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615184"/>
            <a:ext cx="80467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>
                <a:solidFill>
                  <a:srgbClr val="FFFFFF"/>
                </a:solidFill>
                <a:latin typeface="Aptos"/>
              </a:rPr>
              <a:t>Let business teams ask for data directly while analysts own the reusable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913632"/>
            <a:ext cx="10424160" cy="1280160"/>
          </a:xfrm>
          <a:prstGeom prst="rect">
            <a:avLst/>
          </a:prstGeom>
          <a:solidFill>
            <a:srgbClr val="1F3056"/>
          </a:solidFill>
          <a:ln w="12700">
            <a:solidFill>
              <a:srgbClr val="2D42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18795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B0BEC5"/>
                </a:solidFill>
                <a:latin typeface="Aptos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415137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58A6FF"/>
                </a:solidFill>
                <a:latin typeface="Aptos"/>
              </a:rPr>
              <a:t>queryforge-production-8d6f.up.railway.app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00016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B0BEC5"/>
                </a:solidFill>
                <a:latin typeface="Aptos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466344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58A6FF"/>
                </a:solidFill>
                <a:latin typeface="Aptos"/>
              </a:rPr>
              <a:t>github.com/eric-stone-plus/queryforge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7044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B0BEC5"/>
                </a:solidFill>
                <a:latin typeface="Aptos"/>
              </a:rPr>
              <a:t>Built at ClawHunt Builder Camp 2026 in 72 hours | MiMo v2.5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10528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QueryForge | ClawHunt Builder Camp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7F90A8"/>
                </a:solidFill>
                <a:latin typeface="Aptos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QueryForge Pitch</dc:title>
  <dc:subject>Business self-service data query tool</dc:subject>
  <dc:creator>QueryForge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