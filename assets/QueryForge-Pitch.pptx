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9A9A"/>
                </a:solidFill>
                <a:latin typeface="Arial"/>
                <a:ea typeface="Microsoft YaHei"/>
              </a:rPr>
              <a:t>数据分析师每周 60% 的时间在做同一件事：拉报表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0EEE8"/>
                </a:solidFill>
                <a:latin typeface="Arial"/>
                <a:ea typeface="Microsoft YaHei"/>
              </a:rPr>
              <a:t>QueryForge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4A853"/>
                </a:solidFill>
                <a:latin typeface="Arial"/>
                <a:ea typeface="Microsoft YaHei"/>
              </a:rPr>
              <a:t>让业务团队自助取数，解放数据分析师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9A9A"/>
                </a:solidFill>
                <a:latin typeface="Arial"/>
                <a:ea typeface="Microsoft YaHei"/>
              </a:rPr>
              <a:t>自然语言提问 → 自动生成 SQL → 实时可视化 → 异常归因 → 决策建议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ClawHunt Builder Camp 2026 · Track A: Agents at 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业务要数据，总要等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60%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数据分析师的时间花在重复取数上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00400"/>
            <a:ext cx="4754880" cy="256032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3246120"/>
            <a:ext cx="50800" cy="2468880"/>
          </a:xfrm>
          <a:prstGeom prst="rect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3375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F222E"/>
                </a:solidFill>
                <a:latin typeface="Arial"/>
                <a:ea typeface="Microsoft YaHei"/>
              </a:rPr>
              <a:t>分析师的一天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703320"/>
            <a:ext cx="4206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"帮我拉一下上个月各地区的 GMV"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"口径改一下，要按下单时间不是支付时间"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"再加一个退货率的列"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CF222E"/>
                </a:solidFill>
                <a:latin typeface="Arial"/>
                <a:ea typeface="Microsoft YaHei"/>
              </a:rPr>
              <a:t>每天 2-3 小时在重复拉报表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200400"/>
            <a:ext cx="4754880" cy="256032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3246120"/>
            <a:ext cx="50800" cy="2468880"/>
          </a:xfrm>
          <a:prstGeom prst="rect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3375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F222E"/>
                </a:solidFill>
                <a:latin typeface="Arial"/>
                <a:ea typeface="Microsoft YaHei"/>
              </a:rPr>
              <a:t>业务团队的一天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206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周一提需求，周三还没拿到数据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拿到数据发现字段不对，又要重来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一个简单报表，改了 5 版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CF222E"/>
                </a:solidFill>
                <a:latin typeface="Arial"/>
                <a:ea typeface="Microsoft YaHei"/>
              </a:rPr>
              <a:t>排期等待 1-3 天是常态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35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现有方案为什么不行：BI 工具需要学习成本，ChatGPT 不懂你的数据口径，每次都要重新解释表结构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分析师定义一次，业务自助使用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4A853"/>
                </a:solidFill>
                <a:latin typeface="Arial"/>
                <a:ea typeface="Microsoft YaHei"/>
              </a:rPr>
              <a:t>从「取数工具人」到「数据架构师」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2468880" cy="29260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423160"/>
            <a:ext cx="50800" cy="283464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01  分析师定义指标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8036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调整底层数据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定义指标口径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配置看板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8680" y="3474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A9A9A"/>
                </a:solidFill>
                <a:latin typeface="Arial"/>
                <a:ea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377440"/>
            <a:ext cx="2468880" cy="29260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66160" y="2423160"/>
            <a:ext cx="50800" cy="2834640"/>
          </a:xfrm>
          <a:prstGeom prst="rect">
            <a:avLst/>
          </a:prstGeom>
          <a:solidFill>
            <a:srgbClr val="4EA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514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A8DE"/>
                </a:solidFill>
                <a:latin typeface="Arial"/>
                <a:ea typeface="Microsoft YaHei"/>
              </a:rPr>
              <a:t>02  业务自然语言提问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88036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用中文描述需求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像和同事说话一样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0440" y="3474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A9A9A"/>
                </a:solidFill>
                <a:latin typeface="Arial"/>
                <a:ea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377440"/>
            <a:ext cx="2468880" cy="29260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423160"/>
            <a:ext cx="50800" cy="28346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514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03  AI 自动生成查询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8036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理解意图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匹配语义层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生成 SQL + 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2200" y="3474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A9A9A"/>
                </a:solidFill>
                <a:latin typeface="Arial"/>
                <a:ea typeface="Microsoft YaHe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2377440"/>
            <a:ext cx="2468880" cy="29260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69680" y="2423160"/>
            <a:ext cx="50800" cy="2834640"/>
          </a:xfrm>
          <a:prstGeom prst="rect">
            <a:avLst/>
          </a:prstGeom>
          <a:solidFill>
            <a:srgbClr val="825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514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250DF"/>
                </a:solidFill>
                <a:latin typeface="Arial"/>
                <a:ea typeface="Microsoft YaHei"/>
              </a:rPr>
              <a:t>04  返回可视化 + 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88036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图表、异常提示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决策建议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一次定义，无限查询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与 ChatGPT 的区别：分析师的知识沉淀为语义资产，不是每次重新理解表结构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AI 不只是生成，还会自我纠错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30352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691640"/>
            <a:ext cx="50800" cy="40233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自纠正循环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生成 SQL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  ↓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执行查询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  ↓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结果异常？→ 自动诊断错误原因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  ↓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修正 SQL → 重新执行 → 验证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  ↓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返回可靠结果（标记修正记录）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45920"/>
            <a:ext cx="45720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0" y="1691640"/>
            <a:ext cx="50800" cy="17373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7830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对抗审查机制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148840"/>
            <a:ext cx="4023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生成结果由独立模块交叉验证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降低幻觉风险，确保数据可靠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3840480"/>
            <a:ext cx="4572000" cy="192024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0" y="3886200"/>
            <a:ext cx="50800" cy="1828800"/>
          </a:xfrm>
          <a:prstGeom prst="rect">
            <a:avLst/>
          </a:prstGeom>
          <a:solidFill>
            <a:srgbClr val="4EA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9776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A8DE"/>
                </a:solidFill>
                <a:latin typeface="Arial"/>
                <a:ea typeface="Microsoft YaHei"/>
              </a:rPr>
              <a:t>多层安全防护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343400"/>
            <a:ext cx="4023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AST 解析：只允许 SELECT 查询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自动 LIMIT：防止大查询拖垮数据库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只读连接：数据库层面无法写入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在真实数据上验证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10,000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真实订单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地区覆盖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商品品类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核心 KPI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200400"/>
            <a:ext cx="5029200" cy="256032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246120"/>
            <a:ext cx="50800" cy="2468880"/>
          </a:xfrm>
          <a:prstGeom prst="rect">
            <a:avLst/>
          </a:prstGeom>
          <a:solidFill>
            <a:srgbClr val="4EA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33756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A8DE"/>
                </a:solidFill>
                <a:latin typeface="Arial"/>
                <a:ea typeface="Microsoft YaHei"/>
              </a:rPr>
              <a:t>查询能力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703320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覆盖 8 个核心经营指标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支持跨地区、跨品类、跨时间段对比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异常检测与趋势分析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自动选择最佳图表类型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200400"/>
            <a:ext cx="4754880" cy="256032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0800" cy="24688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3375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4 个预设 Demo 查询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703320"/>
            <a:ext cx="4206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「各地区月度销售额趋势」→ 折线图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「哪个品类利润率最高？」→ 柱状图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「Top 10 畅销商品」→ 排名表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「复购率最高的用户」→ 用户画像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商业价值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3291840" cy="22860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691640"/>
            <a:ext cx="50800" cy="21945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市场规模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中国 50 万+ 数据分析师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每人每周 20+ 小时重复取数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自助式 BI 市场 CAGR 25%+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645920"/>
            <a:ext cx="3291840" cy="22860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691640"/>
            <a:ext cx="50800" cy="21945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83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商业模式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14884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分析师注册 → 团队采用 → 企业采购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指标一旦定义，迁移成本高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自然锁定，留存率高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645920"/>
            <a:ext cx="3291840" cy="22860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1691640"/>
            <a:ext cx="50800" cy="2194560"/>
          </a:xfrm>
          <a:prstGeom prst="rect">
            <a:avLst/>
          </a:prstGeom>
          <a:solidFill>
            <a:srgbClr val="825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783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250DF"/>
                </a:solidFill>
                <a:latin typeface="Arial"/>
                <a:ea typeface="Microsoft YaHei"/>
              </a:rPr>
              <a:t>竞争壁垒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4884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指标口径是分析师定义的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不是通用 LLM 能替代的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越用越准，数据飞轮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97680"/>
            <a:ext cx="10515600" cy="164592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4343400"/>
            <a:ext cx="50800" cy="15544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43484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场景价值示例：电商运营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80060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一个 50 人运营团队，每天 20 个数据需求找分析师排队 → QueryForge 上线后，80% 需求业务自己解决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分析师从每周处理 40 个需求降到 8 个，专注深度分析和策略支持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谁需要这个工具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029200" cy="38404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691640"/>
            <a:ext cx="50800" cy="374904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核心场景：电商运营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运营人员随时查询商品销量、转化率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活动效果实时对比，不用等分析师排期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库存周转异常自动预警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从「等报表」到「自己看数据」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典型提问：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「上个月华东销售额最高的 Top 10 商品」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「对比上个月，本月客单价变化了多少？」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4754880" cy="38404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691640"/>
            <a:ext cx="50800" cy="3749040"/>
          </a:xfrm>
          <a:prstGeom prst="rect">
            <a:avLst/>
          </a:prstGeom>
          <a:solidFill>
            <a:srgbClr val="4EA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A8DE"/>
                </a:solidFill>
                <a:latin typeface="Arial"/>
                <a:ea typeface="Microsoft YaHei"/>
              </a:rPr>
              <a:t>更多场景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48840"/>
            <a:ext cx="4206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市场团队 — 活动效果、渠道对比、用户画像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管理层 — 经营日报、异常预警、决策支持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财务 — 收入分析、成本归因、预算执行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产品 — 用户行为、功能使用率、留存率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共同点：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有数据团队，但业务侧频繁提需求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团队与执行力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029200" cy="22860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691640"/>
            <a:ext cx="50800" cy="21945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执行力亮点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4480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3 天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从痛点发现到产品上线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独创 QUINTE 五方对抗审查方法论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5 个 AI 互相挑刺，消除盲区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4754880" cy="22860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691640"/>
            <a:ext cx="50800" cy="2194560"/>
          </a:xfrm>
          <a:prstGeom prst="rect">
            <a:avLst/>
          </a:prstGeom>
          <a:solidFill>
            <a:srgbClr val="4EA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A8DE"/>
                </a:solidFill>
                <a:latin typeface="Arial"/>
                <a:ea typeface="Microsoft YaHei"/>
              </a:rPr>
              <a:t>技术能力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48840"/>
            <a:ext cx="4206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全栈开发：前端 + AI + 数据库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AI 应用落地经验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产品化思维：不只是 demo，是可部署的 SaaS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97680"/>
            <a:ext cx="10515600" cy="13716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4343400"/>
            <a:ext cx="50800" cy="12801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43484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质量保障：QUINTE 对抗审查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0060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3 轮审查 × 5 个 AI = 15 份独立审计报告，发现并修复了 SQL 注入防护、错误处理、边界条件等问题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0EEE8"/>
                </a:solidFill>
                <a:latin typeface="Arial"/>
                <a:ea typeface="Microsoft YaHei"/>
              </a:rPr>
              <a:t>QueryForge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4A853"/>
                </a:solidFill>
                <a:latin typeface="Arial"/>
                <a:ea typeface="Microsoft YaHei"/>
              </a:rPr>
              <a:t>让数据分析师做更有价值的事，让业务团队自己找到答案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200400"/>
            <a:ext cx="10515600" cy="22860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3246120"/>
            <a:ext cx="50800" cy="21945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33756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现场体验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70332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4EA8DE"/>
                </a:solidFill>
                <a:latin typeface="Arial"/>
                <a:ea typeface="Microsoft YaHei"/>
              </a:rPr>
              <a:t>在线演示：queryforge-production-8d6f.up.railway.app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4EA8DE"/>
                </a:solidFill>
                <a:latin typeface="Arial"/>
                <a:ea typeface="Microsoft YaHei"/>
              </a:rPr>
              <a:t>GitHub：github.com/eric-stone-plus/queryforge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欢迎现场提问测试，真实数据实时响应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ClawHunt Builder Camp 2026 · Track A: Agents at Work · 感谢聆听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