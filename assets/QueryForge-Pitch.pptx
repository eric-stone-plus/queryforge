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481328"/>
            <a:ext cx="8046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800" b="1">
                <a:solidFill>
                  <a:srgbClr val="D4A853"/>
                </a:solidFill>
                <a:latin typeface="Microsoft YaHei"/>
                <a:ea typeface="Microsoft YaHei"/>
              </a:rPr>
              <a:t>QueryForge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87168"/>
            <a:ext cx="2194560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871216"/>
            <a:ext cx="8046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让业务团队自助取数，解放数据分析师的重复需求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6732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>
                <a:solidFill>
                  <a:srgbClr val="9A9A9A"/>
                </a:solidFill>
                <a:latin typeface="Microsoft YaHei"/>
                <a:ea typeface="Microsoft YaHei"/>
              </a:rPr>
              <a:t>分析师定义指标与口径，业务团队用自然语言直接提问、看图、做决策。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0" y="1188720"/>
            <a:ext cx="2240280" cy="438912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0" y="1572768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一次定义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0" y="2267712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反复使用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0" y="2962656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统一口径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3657600"/>
            <a:ext cx="169164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即时决策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144768"/>
            <a:ext cx="4206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产品链接：queryforge-production-8d6f.up.railway.app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1/9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业务要数据，总要等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核心矛盾不是缺数据，而是每个临时问题都要进入分析师排队。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21408"/>
            <a:ext cx="2423160" cy="242316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121408"/>
            <a:ext cx="50800" cy="24231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304288"/>
            <a:ext cx="1984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运营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743200"/>
            <a:ext cx="1984248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想看华东上月卖了多少。</a:t>
            </a:r>
          </a:p>
          <a:p>
            <a:pPr algn="l">
              <a:lnSpc>
                <a:spcPct val="117000"/>
              </a:lnSpc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结果：先提需求，再等排期。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3639312" y="2121408"/>
            <a:ext cx="2423160" cy="242316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39312" y="2121408"/>
            <a:ext cx="50800" cy="24231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58768" y="2304288"/>
            <a:ext cx="1984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市场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58768" y="2743200"/>
            <a:ext cx="1984248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想知道哪个品类增长最快。</a:t>
            </a:r>
          </a:p>
          <a:p>
            <a:pPr algn="l">
              <a:lnSpc>
                <a:spcPct val="117000"/>
              </a:lnSpc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结果：活动复盘被报表节奏拖慢。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01384" y="2121408"/>
            <a:ext cx="2423160" cy="242316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01384" y="2121408"/>
            <a:ext cx="50800" cy="24231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20840" y="2304288"/>
            <a:ext cx="1984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老板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743200"/>
            <a:ext cx="1984248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想追问这个月为什么下滑。</a:t>
            </a:r>
          </a:p>
          <a:p>
            <a:pPr algn="l">
              <a:lnSpc>
                <a:spcPct val="117000"/>
              </a:lnSpc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结果：临时加急，分析师被打断。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363456" y="2121408"/>
            <a:ext cx="2423160" cy="242316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63456" y="2121408"/>
            <a:ext cx="50800" cy="24231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82912" y="2304288"/>
            <a:ext cx="198424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重复需求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82912" y="2743200"/>
            <a:ext cx="1984248" cy="1673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同一个指标被不同部门反复问。</a:t>
            </a:r>
          </a:p>
          <a:p>
            <a:pPr algn="l">
              <a:lnSpc>
                <a:spcPct val="117000"/>
              </a:lnSpc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结果：口径反复解释，表格反复改。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4983480"/>
            <a:ext cx="10927080" cy="786384"/>
          </a:xfrm>
          <a:prstGeom prst="rect">
            <a:avLst/>
          </a:prstGeom>
          <a:solidFill>
            <a:srgbClr val="1A1F2E"/>
          </a:solidFill>
          <a:ln w="12700">
            <a:solidFill>
              <a:srgbClr val="343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5193792"/>
            <a:ext cx="9875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D4A853"/>
                </a:solidFill>
                <a:latin typeface="Microsoft YaHei"/>
                <a:ea typeface="Microsoft YaHei"/>
              </a:rPr>
              <a:t>分析师被重复拉数占用，业务团队也被等待周期锁住。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2/9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分析师定义一次，业务自助使用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把分析师的专业判断沉淀为可复用的指标资产，而不是每次重新拉数。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21408"/>
            <a:ext cx="2907792" cy="230428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27685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D4A853"/>
                </a:solidFill>
                <a:latin typeface="Microsoft YaHei"/>
                <a:ea typeface="Microsoft YaHei"/>
              </a:rPr>
              <a:t>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59689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指标沉淀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962656"/>
            <a:ext cx="2542032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0" b="0">
                <a:solidFill>
                  <a:srgbClr val="9A9A9A"/>
                </a:solidFill>
                <a:latin typeface="Microsoft YaHei"/>
                <a:ea typeface="Microsoft YaHei"/>
              </a:rPr>
              <a:t>分析师预先定义常用指标、字段含义和计算口径，形成可复用的数据资产。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22192" y="312724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>
                <a:solidFill>
                  <a:srgbClr val="D4A85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33672" y="2121408"/>
            <a:ext cx="2907792" cy="230428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16552" y="227685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D4A853"/>
                </a:solidFill>
                <a:latin typeface="Microsoft YaHei"/>
                <a:ea typeface="Microsoft YaHei"/>
              </a:rPr>
              <a:t>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16552" y="259689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自然语言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2962656"/>
            <a:ext cx="2542032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0" b="0">
                <a:solidFill>
                  <a:srgbClr val="9A9A9A"/>
                </a:solidFill>
                <a:latin typeface="Microsoft YaHei"/>
                <a:ea typeface="Microsoft YaHei"/>
              </a:rPr>
              <a:t>业务人员用中文直接提问，系统识别指标、时间范围、筛选条件和对比维度。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78624" y="3127248"/>
            <a:ext cx="3200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</a:pPr>
            <a:r>
              <a:rPr sz="1700" b="1">
                <a:solidFill>
                  <a:srgbClr val="D4A853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90104" y="2121408"/>
            <a:ext cx="2907792" cy="230428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72984" y="2276856"/>
            <a:ext cx="4114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1">
                <a:solidFill>
                  <a:srgbClr val="D4A853"/>
                </a:solidFill>
                <a:latin typeface="Microsoft YaHei"/>
                <a:ea typeface="Microsoft YaHei"/>
              </a:rPr>
              <a:t>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72984" y="2596896"/>
            <a:ext cx="254203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统一口径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72984" y="2962656"/>
            <a:ext cx="2542032" cy="1353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20" b="0">
                <a:solidFill>
                  <a:srgbClr val="9A9A9A"/>
                </a:solidFill>
                <a:latin typeface="Microsoft YaHei"/>
                <a:ea typeface="Microsoft YaHei"/>
              </a:rPr>
              <a:t>每次查询都复用分析师认可的定义，减少部门之间的指标理解偏差。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4892040"/>
            <a:ext cx="10378440" cy="676656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074920"/>
            <a:ext cx="96926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结果：业务从“提需求等报表”变成“自己问自己看”，分析师从执行拉数变成治理标准。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3/9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从提问到决策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QueryForge 覆盖从业务问题、数据结果到行动建议的完整链路。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84248"/>
            <a:ext cx="4800600" cy="1719072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84248"/>
            <a:ext cx="50800" cy="171907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167128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取数 + 可视化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606040"/>
            <a:ext cx="436168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业务直接问“各地区本月销售额是多少”。</a:t>
            </a:r>
          </a:p>
          <a:p>
            <a:pPr algn="l">
              <a:lnSpc>
                <a:spcPct val="117000"/>
              </a:lnSpc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系统返回结果并生成图表。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984248"/>
            <a:ext cx="4800600" cy="1719072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2" y="1984248"/>
            <a:ext cx="50800" cy="171907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167128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归因 + 建议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606040"/>
            <a:ext cx="436168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看到异常波动后继续追问原因。</a:t>
            </a:r>
          </a:p>
          <a:p>
            <a:pPr algn="l">
              <a:lnSpc>
                <a:spcPct val="117000"/>
              </a:lnSpc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系统给出可能归因和下一步行动。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206240"/>
            <a:ext cx="4800600" cy="1719072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206240"/>
            <a:ext cx="50800" cy="171907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4389120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智能纠错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4828032"/>
            <a:ext cx="436168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查询失败时自动诊断错误。</a:t>
            </a:r>
          </a:p>
          <a:p>
            <a:pPr algn="l">
              <a:lnSpc>
                <a:spcPct val="117000"/>
              </a:lnSpc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修正后重新执行，不把问题丢给用户。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4206240"/>
            <a:ext cx="4800600" cy="1719072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4206240"/>
            <a:ext cx="50800" cy="1719072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4389120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指标库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4828032"/>
            <a:ext cx="4361688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常用指标由分析师预设。</a:t>
            </a:r>
          </a:p>
          <a:p>
            <a:pPr algn="l">
              <a:lnSpc>
                <a:spcPct val="117000"/>
              </a:lnSpc>
            </a:pPr>
            <a:r>
              <a:rPr sz="1220" b="0">
                <a:solidFill>
                  <a:srgbClr val="9A9A9A"/>
                </a:solidFill>
                <a:latin typeface="Microsoft YaHei"/>
                <a:ea typeface="Microsoft YaHei"/>
              </a:rPr>
              <a:t>业务一键复用，减少重复解释。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4/9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真实验证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示例电商数据库覆盖订单、地区、品类、商品、用户和渠道。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38528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>
                <a:solidFill>
                  <a:srgbClr val="D4A853"/>
                </a:solidFill>
                <a:latin typeface="Microsoft YaHei"/>
                <a:ea typeface="Microsoft YaHei"/>
              </a:rPr>
              <a:t>10000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6883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</a:rPr>
              <a:t>订单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999232"/>
            <a:ext cx="2971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示例数据库订单量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1938528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>
                <a:solidFill>
                  <a:srgbClr val="D4A853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883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</a:rPr>
              <a:t>地区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2999232"/>
            <a:ext cx="2971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地区维度覆盖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1938528"/>
            <a:ext cx="2971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300" b="1">
                <a:solidFill>
                  <a:srgbClr val="D4A853"/>
                </a:solidFill>
                <a:latin typeface="Microsoft YaHei"/>
                <a:ea typeface="Microsoft YaHei"/>
              </a:rPr>
              <a:t>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2688336"/>
            <a:ext cx="2971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>
                <a:solidFill>
                  <a:srgbClr val="FFFFFF"/>
                </a:solidFill>
                <a:latin typeface="Microsoft YaHei"/>
                <a:ea typeface="Microsoft YaHei"/>
              </a:rPr>
              <a:t>品类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999232"/>
            <a:ext cx="2971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品类维度覆盖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1865376"/>
            <a:ext cx="1920240" cy="141732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00032" y="215798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>
                <a:solidFill>
                  <a:srgbClr val="D4A853"/>
                </a:solidFill>
                <a:latin typeface="Microsoft YaHei"/>
                <a:ea typeface="Microsoft YaHei"/>
              </a:rPr>
              <a:t>8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00032" y="2679192"/>
            <a:ext cx="1508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>
                <a:solidFill>
                  <a:srgbClr val="9A9A9A"/>
                </a:solidFill>
                <a:latin typeface="Microsoft YaHei"/>
                <a:ea typeface="Microsoft YaHei"/>
              </a:rPr>
              <a:t>经营指标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77240" y="3822191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2688" y="3950207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总营收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4233671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¥23256万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547872" y="3822191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03320" y="3950207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客单价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03320" y="4233671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¥23256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18504" y="3822191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950207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毛利率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73952" y="4233671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46.7%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89136" y="3822191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44584" y="3950207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复购率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44584" y="4233671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100%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7240" y="4773167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" y="4901183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完成率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184647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66.5%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547872" y="4773167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703320" y="4901183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退款率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03320" y="5184647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16.6%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18504" y="4773167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73952" y="4901183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连带率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73952" y="5184647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2.5件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089136" y="4773167"/>
            <a:ext cx="2542032" cy="7498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244584" y="4901183"/>
            <a:ext cx="22311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9A9A9A"/>
                </a:solidFill>
                <a:latin typeface="Microsoft YaHei"/>
                <a:ea typeface="Microsoft YaHei"/>
              </a:rPr>
              <a:t>活跃买家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44584" y="5184647"/>
            <a:ext cx="223113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>
                <a:solidFill>
                  <a:srgbClr val="D4A853"/>
                </a:solidFill>
                <a:latin typeface="Microsoft YaHei"/>
                <a:ea typeface="Microsoft YaHei"/>
              </a:rPr>
              <a:t>1000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5/9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双重价值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同一个产品同时改变分析师工作方式和业务团队决策节奏。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4892040" cy="356616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874519"/>
            <a:ext cx="50800" cy="35661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057399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分析师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496311"/>
            <a:ext cx="4453128" cy="2816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600" b="0">
                <a:solidFill>
                  <a:srgbClr val="9A9A9A"/>
                </a:solidFill>
                <a:latin typeface="Microsoft YaHei"/>
                <a:ea typeface="Microsoft YaHei"/>
              </a:rPr>
              <a:t>减少 80% 重复取数</a:t>
            </a:r>
          </a:p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600" b="0">
                <a:solidFill>
                  <a:srgbClr val="9A9A9A"/>
                </a:solidFill>
                <a:latin typeface="Microsoft YaHei"/>
                <a:ea typeface="Microsoft YaHei"/>
              </a:rPr>
              <a:t>专注治理、质量和口径</a:t>
            </a:r>
          </a:p>
          <a:p>
            <a:pPr algn="l">
              <a:lnSpc>
                <a:spcPct val="117000"/>
              </a:lnSpc>
            </a:pPr>
            <a:r>
              <a:rPr sz="1600" b="0">
                <a:solidFill>
                  <a:srgbClr val="9A9A9A"/>
                </a:solidFill>
                <a:latin typeface="Microsoft YaHei"/>
                <a:ea typeface="Microsoft YaHei"/>
              </a:rPr>
              <a:t>从“拉数”转向“定标准”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4892040" cy="356616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0800" cy="356616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057399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业务团队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496311"/>
            <a:ext cx="4453128" cy="2816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600" b="0">
                <a:solidFill>
                  <a:srgbClr val="9A9A9A"/>
                </a:solidFill>
                <a:latin typeface="Microsoft YaHei"/>
                <a:ea typeface="Microsoft YaHei"/>
              </a:rPr>
              <a:t>随时提问，不等排期</a:t>
            </a:r>
          </a:p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600" b="0">
                <a:solidFill>
                  <a:srgbClr val="9A9A9A"/>
                </a:solidFill>
                <a:latin typeface="Microsoft YaHei"/>
                <a:ea typeface="Microsoft YaHei"/>
              </a:rPr>
              <a:t>自己看数据，自己决策</a:t>
            </a:r>
          </a:p>
          <a:p>
            <a:pPr algn="l">
              <a:lnSpc>
                <a:spcPct val="117000"/>
              </a:lnSpc>
            </a:pPr>
            <a:r>
              <a:rPr sz="1600" b="0">
                <a:solidFill>
                  <a:srgbClr val="9A9A9A"/>
                </a:solidFill>
                <a:latin typeface="Microsoft YaHei"/>
                <a:ea typeface="Microsoft YaHei"/>
              </a:rPr>
              <a:t>从“等报表”转向“看数据”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779008"/>
            <a:ext cx="8778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9A9A9A"/>
                </a:solidFill>
                <a:latin typeface="Microsoft YaHei"/>
                <a:ea typeface="Microsoft YaHei"/>
              </a:rPr>
              <a:t>价值边界：不替代分析师判断，而是把重复需求交给标准化自助流程。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6/9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应用场景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从日常运营到财务分析，QueryForge 优先解决高频、临时、跨维度的数据问题。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1993392"/>
            <a:ext cx="4800600" cy="16642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993392"/>
            <a:ext cx="50800" cy="166420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176272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电商运营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615184"/>
            <a:ext cx="43616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查看销售、库存、转化、退货。</a:t>
            </a:r>
          </a:p>
          <a:p>
            <a:pPr algn="l">
              <a:lnSpc>
                <a:spcPct val="117000"/>
              </a:lnSpc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快速调整活动和库存计划。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91072" y="1993392"/>
            <a:ext cx="4800600" cy="16642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91072" y="1993392"/>
            <a:ext cx="50800" cy="166420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10528" y="2176272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市场团队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0528" y="2615184"/>
            <a:ext cx="43616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对比活动效果、渠道表现、用户分层。</a:t>
            </a:r>
          </a:p>
          <a:p>
            <a:pPr algn="l">
              <a:lnSpc>
                <a:spcPct val="117000"/>
              </a:lnSpc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减少复盘等待时间。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4160520"/>
            <a:ext cx="4800600" cy="16642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4160520"/>
            <a:ext cx="50800" cy="166420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6" y="4343400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管理层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96696" y="4782312"/>
            <a:ext cx="43616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追踪经营日报、异常预警、关键趋势。</a:t>
            </a:r>
          </a:p>
          <a:p>
            <a:pPr algn="l">
              <a:lnSpc>
                <a:spcPct val="117000"/>
              </a:lnSpc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临时追问也能即时得到数据。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91072" y="4160520"/>
            <a:ext cx="4800600" cy="1664208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91072" y="4160520"/>
            <a:ext cx="50800" cy="1664208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4343400"/>
            <a:ext cx="436168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>
                <a:solidFill>
                  <a:srgbClr val="FFFFFF"/>
                </a:solidFill>
                <a:latin typeface="Microsoft YaHei"/>
                <a:ea typeface="Microsoft YaHei"/>
              </a:rPr>
              <a:t>财务分析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4782312"/>
            <a:ext cx="436168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查看收入趋势、成本结构、利润分布。</a:t>
            </a:r>
          </a:p>
          <a:p>
            <a:pPr algn="l">
              <a:lnSpc>
                <a:spcPct val="117000"/>
              </a:lnSpc>
            </a:pPr>
            <a:r>
              <a:rPr sz="1240" b="0">
                <a:solidFill>
                  <a:srgbClr val="9A9A9A"/>
                </a:solidFill>
                <a:latin typeface="Microsoft YaHei"/>
                <a:ea typeface="Microsoft YaHei"/>
              </a:rPr>
              <a:t>支持预算和成本控制判断。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7/9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97840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技术亮点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216152"/>
            <a:ext cx="1481328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17320"/>
            <a:ext cx="9509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9A9A9A"/>
                </a:solidFill>
                <a:latin typeface="Microsoft YaHei"/>
                <a:ea typeface="Microsoft YaHei"/>
              </a:rPr>
              <a:t>不堆技术名词，只保留与产品可靠性直接相关的两件事。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4892040" cy="306324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2011680"/>
            <a:ext cx="50800" cy="30632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194560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自纠正循环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633472"/>
            <a:ext cx="4453128" cy="2313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Microsoft YaHei"/>
                <a:ea typeface="Microsoft YaHei"/>
              </a:rPr>
              <a:t>查询出错后，系统会识别错误原因、修正查询并重新执行。</a:t>
            </a:r>
          </a:p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7000"/>
              </a:lnSpc>
            </a:pPr>
            <a:r>
              <a:rPr sz="1400" b="0">
                <a:solidFill>
                  <a:srgbClr val="9A9A9A"/>
                </a:solidFill>
                <a:latin typeface="Microsoft YaHei"/>
                <a:ea typeface="Microsoft YaHei"/>
              </a:rPr>
              <a:t>用户看到的是修正过程和最终结果，而不是被错误信息卡住。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263640" y="2011680"/>
            <a:ext cx="4892040" cy="3063240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63640" y="2011680"/>
            <a:ext cx="50800" cy="306324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83096" y="2194560"/>
            <a:ext cx="445312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对抗审查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633472"/>
            <a:ext cx="4453128" cy="23134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Microsoft YaHei"/>
                <a:ea typeface="Microsoft YaHei"/>
              </a:rPr>
              <a:t>项目采用 5 个智能体互相挑刺的审查流程。</a:t>
            </a:r>
          </a:p>
          <a:p>
            <a:pPr algn="l">
              <a:lnSpc>
                <a:spcPct val="117000"/>
              </a:lnSpc>
              <a:spcAft>
                <a:spcPts val="400"/>
              </a:spcAft>
            </a:pPr>
            <a:r>
              <a:rPr sz="1400" b="0">
                <a:solidFill>
                  <a:srgbClr val="9A9A9A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17000"/>
              </a:lnSpc>
            </a:pPr>
            <a:r>
              <a:rPr sz="1400" b="0">
                <a:solidFill>
                  <a:srgbClr val="9A9A9A"/>
                </a:solidFill>
                <a:latin typeface="Microsoft YaHei"/>
                <a:ea typeface="Microsoft YaHei"/>
              </a:rPr>
              <a:t>代码安全、产品方向和体验打磨都经过多轮反方检查。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5559552"/>
            <a:ext cx="10378440" cy="530352"/>
          </a:xfrm>
          <a:prstGeom prst="rect">
            <a:avLst/>
          </a:prstGeom>
          <a:solidFill>
            <a:srgbClr val="1A1F2E"/>
          </a:solidFill>
          <a:ln w="12700">
            <a:solidFill>
              <a:srgbClr val="343A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7552" y="5705856"/>
            <a:ext cx="96926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1">
                <a:solidFill>
                  <a:srgbClr val="D4A853"/>
                </a:solidFill>
                <a:latin typeface="Microsoft YaHei"/>
                <a:ea typeface="Microsoft YaHei"/>
              </a:rPr>
              <a:t>目标：让业务能自助使用，同时把错误修复和质量审查留在系统内部。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46520"/>
            <a:ext cx="38404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数据来源：产品示例数据库与项目代码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8/9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F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444752"/>
            <a:ext cx="8046720" cy="8046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1">
                <a:solidFill>
                  <a:srgbClr val="D4A853"/>
                </a:solidFill>
                <a:latin typeface="Microsoft YaHei"/>
                <a:ea typeface="Microsoft YaHei"/>
              </a:rPr>
              <a:t>QueryForge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2432304"/>
            <a:ext cx="2148840" cy="38100"/>
          </a:xfrm>
          <a:prstGeom prst="rect">
            <a:avLst/>
          </a:prstGeom>
          <a:solidFill>
            <a:srgbClr val="D4A8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2816352"/>
            <a:ext cx="786384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让数据分析师做更有价值的事</a:t>
            </a:r>
          </a:p>
          <a:p>
            <a:pPr algn="l">
              <a:lnSpc>
                <a:spcPct val="110000"/>
              </a:lnSpc>
            </a:pPr>
            <a:r>
              <a:rPr sz="2200" b="1">
                <a:solidFill>
                  <a:srgbClr val="FFFFFF"/>
                </a:solidFill>
                <a:latin typeface="Microsoft YaHei"/>
                <a:ea typeface="Microsoft YaHei"/>
              </a:rPr>
              <a:t>让业务团队自己找到答案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977639"/>
            <a:ext cx="8915400" cy="1152144"/>
          </a:xfrm>
          <a:prstGeom prst="rect">
            <a:avLst/>
          </a:prstGeom>
          <a:solidFill>
            <a:srgbClr val="2A2F3E"/>
          </a:solidFill>
          <a:ln w="12700">
            <a:solidFill>
              <a:srgbClr val="3A4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4251960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产品链接：queryforge-production-8d6f.up.railway.app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4645152"/>
            <a:ext cx="8138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>
                <a:solidFill>
                  <a:srgbClr val="9A9A9A"/>
                </a:solidFill>
                <a:latin typeface="Microsoft YaHei"/>
                <a:ea typeface="Microsoft YaHei"/>
              </a:rPr>
              <a:t>GitHub：github.com/eric-stone-plus/queryforge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71632" y="6446520"/>
            <a:ext cx="640080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</a:pPr>
            <a:r>
              <a:rPr sz="850" b="0">
                <a:solidFill>
                  <a:srgbClr val="9A9A9A"/>
                </a:solidFill>
                <a:latin typeface="Microsoft YaHei"/>
                <a:ea typeface="Microsoft YaHei"/>
              </a:rPr>
              <a:t>9/9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