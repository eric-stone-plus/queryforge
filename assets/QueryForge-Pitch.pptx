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9A9A"/>
                </a:solidFill>
                <a:latin typeface="Arial"/>
                <a:ea typeface="Microsoft YaHei"/>
              </a:rPr>
              <a:t>数据分析师每周 60% 的时间在做同一件事：拉报表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0EEE8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4A853"/>
                </a:solidFill>
                <a:latin typeface="Arial"/>
                <a:ea typeface="Microsoft YaHei"/>
              </a:rPr>
              <a:t>让业务团队自助取数，解放数据分析师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9A9A"/>
                </a:solidFill>
                <a:latin typeface="Arial"/>
                <a:ea typeface="Microsoft YaHei"/>
              </a:rPr>
              <a:t>自然语言提问 → 自动生成 SQL → 实时可视化 → 异常归因 → 决策建议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ClawHunt Builder Camp 2026 · Track A: Agents at 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业务要数据，总要等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60%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数据分析师的时间花在重复取数上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00400"/>
            <a:ext cx="4754880" cy="256032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246120"/>
            <a:ext cx="50800" cy="2468880"/>
          </a:xfrm>
          <a:prstGeom prst="rect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3375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F222E"/>
                </a:solidFill>
                <a:latin typeface="Arial"/>
                <a:ea typeface="Microsoft YaHei"/>
              </a:rPr>
              <a:t>分析师的一天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703320"/>
            <a:ext cx="4206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"帮我拉一下上个月各地区的 GMV"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"口径改一下，要按下单时间不是支付时间"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"再加一个退货率的列"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CF222E"/>
                </a:solidFill>
                <a:latin typeface="Arial"/>
                <a:ea typeface="Microsoft YaHei"/>
              </a:rPr>
              <a:t>每天 2-3 小时在重复拉报表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00400"/>
            <a:ext cx="4754880" cy="256032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3246120"/>
            <a:ext cx="50800" cy="2468880"/>
          </a:xfrm>
          <a:prstGeom prst="rect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3375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F222E"/>
                </a:solidFill>
                <a:latin typeface="Arial"/>
                <a:ea typeface="Microsoft YaHei"/>
              </a:rPr>
              <a:t>业务团队的一天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206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周一提需求，周三还没拿到数据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拿到数据发现字段不对，又要重来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一个简单报表，改了 5 版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CF222E"/>
                </a:solidFill>
                <a:latin typeface="Arial"/>
                <a:ea typeface="Microsoft YaHei"/>
              </a:rPr>
              <a:t>排期等待 1-3 天是常态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35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现有方案为什么不行：BI 工具需要学习成本，ChatGPT 不懂你的数据口径，每次都要重新解释表结构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分析师定义一次，业务自助使用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4A853"/>
                </a:solidFill>
                <a:latin typeface="Arial"/>
                <a:ea typeface="Microsoft YaHei"/>
              </a:rPr>
              <a:t>从「取数工具人」到「数据架构师」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2468880" cy="29260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423160"/>
            <a:ext cx="50800" cy="283464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01  分析师定义指标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8036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调整底层数据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定义指标口径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配置看板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8680" y="3474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9A9A"/>
                </a:solidFill>
                <a:latin typeface="Arial"/>
                <a:ea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377440"/>
            <a:ext cx="2468880" cy="29260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66160" y="2423160"/>
            <a:ext cx="50800" cy="2834640"/>
          </a:xfrm>
          <a:prstGeom prst="rect">
            <a:avLst/>
          </a:prstGeom>
          <a:solidFill>
            <a:srgbClr val="4EA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514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Arial"/>
                <a:ea typeface="Microsoft YaHei"/>
              </a:rPr>
              <a:t>02  业务自然语言提问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88036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用中文描述需求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像和同事说话一样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0440" y="3474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9A9A"/>
                </a:solidFill>
                <a:latin typeface="Arial"/>
                <a:ea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377440"/>
            <a:ext cx="2468880" cy="29260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423160"/>
            <a:ext cx="50800" cy="28346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514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03  AI 自动生成查询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8036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理解意图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匹配语义层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生成 SQL + 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2200" y="3474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9A9A"/>
                </a:solidFill>
                <a:latin typeface="Arial"/>
                <a:ea typeface="Microsoft YaHe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2377440"/>
            <a:ext cx="2468880" cy="29260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69680" y="2423160"/>
            <a:ext cx="50800" cy="2834640"/>
          </a:xfrm>
          <a:prstGeom prst="rect">
            <a:avLst/>
          </a:prstGeom>
          <a:solidFill>
            <a:srgbClr val="825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514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250DF"/>
                </a:solidFill>
                <a:latin typeface="Arial"/>
                <a:ea typeface="Microsoft YaHei"/>
              </a:rPr>
              <a:t>04  返回可视化 + 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88036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图表、异常提示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决策建议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一次定义，无限查询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与 ChatGPT 的区别：分析师的知识沉淀为语义资产，不是每次重新理解表结构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从提问到决策，一个流程走完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30352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40233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完整处理链路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取数 — "各地区本月销售额是多少"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可视化 — 自动生成图表，一键切换维度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归因 — "为什么东区下降了" → 自动找原因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建议 — 基于数据给出下一步行动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每个环节都有 AI 深度参与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45920"/>
            <a:ext cx="45720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0" y="1691640"/>
            <a:ext cx="50800" cy="17373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783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自纠正循环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148840"/>
            <a:ext cx="4023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生成 SQL → 执行 → 检查结果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异常？→ 自动诊断 → 修正 SQL → 重试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确保查询结果可靠，用户无感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3840480"/>
            <a:ext cx="4572000" cy="192024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0" y="3886200"/>
            <a:ext cx="50800" cy="1828800"/>
          </a:xfrm>
          <a:prstGeom prst="rect">
            <a:avLst/>
          </a:prstGeom>
          <a:solidFill>
            <a:srgbClr val="825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9776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250DF"/>
                </a:solidFill>
                <a:latin typeface="Arial"/>
                <a:ea typeface="Microsoft YaHei"/>
              </a:rPr>
              <a:t>对抗审查机制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343400"/>
            <a:ext cx="4023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生成结果由独立模块交叉验证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降低幻觉风险，确保数据可靠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8250DF"/>
                </a:solidFill>
                <a:latin typeface="Arial"/>
                <a:ea typeface="Microsoft YaHei"/>
              </a:rPr>
              <a:t>QUINTE 方法论：5 个 AI 互相挑刺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技术亮点：AI 用得到位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40233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语义层：知识沉淀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分析师定义指标时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系统自动生成语义层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将业务语言映射到数据表结构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不是每次重新理解表结构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一次定义，永久可用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691640"/>
            <a:ext cx="50800" cy="40233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783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自纠正：可靠输出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1488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生成查询后自动验证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检查数据合理性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异常结果触发重新推理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不是一次性生成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而是生成→验证→修正的循环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645920"/>
            <a:ext cx="320040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691640"/>
            <a:ext cx="50800" cy="4023360"/>
          </a:xfrm>
          <a:prstGeom prst="rect">
            <a:avLst/>
          </a:prstGeom>
          <a:solidFill>
            <a:srgbClr val="4EA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783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Arial"/>
                <a:ea typeface="Microsoft YaHei"/>
              </a:rPr>
              <a:t>安全：多层防护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148840"/>
            <a:ext cx="2651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AST 解析：只允许 SELECT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自动 LIMIT：防大查询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只读连接：无法写入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三重防护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即使绕过前两层也无法破坏数据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在真实数据上验证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10,000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真实订单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地区覆盖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商品品类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474720"/>
            <a:ext cx="5029200" cy="22860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3520440"/>
            <a:ext cx="50800" cy="21945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61188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查询能力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977640"/>
            <a:ext cx="4480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覆盖 8 个核心经营指标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支持跨地区、跨品类、跨时间对比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异常检测与趋势分析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自动选择最佳图表类型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474720"/>
            <a:ext cx="4754880" cy="22860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3520440"/>
            <a:ext cx="50800" cy="21945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6118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4 个预设 Demo 查询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77640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「各地区月度销售额趋势」→ 折线图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「哪个品类利润率最高？」→ 柱状图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「Top 10 畅销商品」→ 排名表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「复购率最高的用户」→ 用户画像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035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离线降级：API 不可用时自动使用预缓存结果，Demo 永不卡顿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商业价值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40233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市场规模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中国 50 万+ 数据分析师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每人每周 20+ 小时重复取数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自助式 BI 市场 CAGR 25%+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目标客户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有数据团队、业务侧频繁提需求的中型企业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691640"/>
            <a:ext cx="50800" cy="40233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783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商业模式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1488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分析师注册试用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  ↓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团队日常使用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  ↓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企业级采购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指标一旦定义，迁移成本高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自然锁定，留存率高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645920"/>
            <a:ext cx="320040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691640"/>
            <a:ext cx="50800" cy="4023360"/>
          </a:xfrm>
          <a:prstGeom prst="rect">
            <a:avLst/>
          </a:prstGeom>
          <a:solidFill>
            <a:srgbClr val="4EA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783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Arial"/>
                <a:ea typeface="Microsoft YaHei"/>
              </a:rPr>
              <a:t>场景价值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148840"/>
            <a:ext cx="2651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4EA8DE"/>
                </a:solidFill>
                <a:latin typeface="Arial"/>
                <a:ea typeface="Microsoft YaHei"/>
              </a:rPr>
              <a:t>电商运营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每天看销售、库存、转化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EA8DE"/>
                </a:solidFill>
                <a:latin typeface="Arial"/>
                <a:ea typeface="Microsoft YaHei"/>
              </a:rPr>
              <a:t>市场团队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活动效果、渠道对比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EA8DE"/>
                </a:solidFill>
                <a:latin typeface="Arial"/>
                <a:ea typeface="Microsoft YaHei"/>
              </a:rPr>
              <a:t>管理层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经营日报、异常预警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典型场景：电商运营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40233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一个 50 人运营团队的日常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4480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每天 20 个数据需求找分析师排队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QueryForge 上线后：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80% 需求业务自己解决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分析师从每周 40 个需求降到 8 个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分析师专注深度分析和策略支持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业务团队随时提问，不用排队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47548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691640"/>
            <a:ext cx="50800" cy="40233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典型提问示例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48840"/>
            <a:ext cx="4206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「上个月华东销售额最高的 Top 10 商品」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「对比上个月，本月客单价变化了多少？」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「哪个品类的退货率最高？」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「本月新客户的占比是多少？」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自然语言提问，不需要懂 SQL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10 秒出结果，自动可视化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团队与执行力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192024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执行力亮点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3 天从痛点发现到产品上线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独创 QUINTE 五方对抗审查方法论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5 个 AI 互相挑刺，消除盲区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475488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691640"/>
            <a:ext cx="50800" cy="1920240"/>
          </a:xfrm>
          <a:prstGeom prst="rect">
            <a:avLst/>
          </a:prstGeom>
          <a:solidFill>
            <a:srgbClr val="4EA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Arial"/>
                <a:ea typeface="Microsoft YaHei"/>
              </a:rPr>
              <a:t>技术能力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488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全栈开发：前端 + AI + 数据库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AI 应用落地经验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产品化思维：不是 demo，是可部署的 SaaS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023360"/>
            <a:ext cx="10515600" cy="164592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4069080"/>
            <a:ext cx="50800" cy="15544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16052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质量保障：QUINTE 对抗审查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2628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3 轮审查 × 5 个 AI = 15 份独立审计报告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发现并修复了 SQL 注入防护、错误处理、边界条件等问题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0EEE8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4A853"/>
                </a:solidFill>
                <a:latin typeface="Arial"/>
                <a:ea typeface="Microsoft YaHei"/>
              </a:rPr>
              <a:t>让数据分析师做更有价值的事，让业务团队自己找到答案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657600"/>
            <a:ext cx="105156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3703320"/>
            <a:ext cx="50800" cy="17373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现场体验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160520"/>
            <a:ext cx="6446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b="1" sz="1500">
                <a:solidFill>
                  <a:srgbClr val="D4A853"/>
                </a:solidFill>
                <a:latin typeface="Microsoft YaHei"/>
                <a:ea typeface="Microsoft YaHei"/>
                <a:cs typeface="Microsoft YaHei"/>
              </a:rPr>
              <a:t>在线演示：queryforge-production-8d6f.up.railway.app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C8C4BC"/>
                </a:solidFill>
                <a:latin typeface="Microsoft YaHei"/>
                <a:ea typeface="Microsoft YaHei"/>
                <a:cs typeface="Microsoft YaHei"/>
              </a:rPr>
              <a:t>GitHub：github.com/eric-stone-plus/queryforge</a:t>
            </a:r>
          </a:p>
          <a:p>
            <a:pPr>
              <a:spcAft>
                <a:spcPts val="700"/>
              </a:spcAft>
            </a:pP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F4F1E9"/>
                </a:solidFill>
                <a:latin typeface="Microsoft YaHei"/>
                <a:ea typeface="Microsoft YaHei"/>
                <a:cs typeface="Microsoft YaHei"/>
              </a:rPr>
              <a:t>欢迎现场扫码体验，真实数据实时响应</a:t>
            </a:r>
          </a:p>
          <a:p>
            <a:pPr>
              <a:spcAft>
                <a:spcPts val="7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ClawHunt Builder Camp 2026 · Track A: Agents at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3401568"/>
            <a:ext cx="2359152" cy="2359152"/>
          </a:xfrm>
          <a:prstGeom prst="rect">
            <a:avLst/>
          </a:prstGeom>
          <a:solidFill>
            <a:srgbClr val="2A2F3E"/>
          </a:solidFill>
          <a:ln w="12700">
            <a:solidFill>
              <a:srgbClr val="3B43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33104" y="3593592"/>
            <a:ext cx="1975104" cy="197510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ailway-demo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7968" y="3648456"/>
            <a:ext cx="1865376" cy="1865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41080" y="2962656"/>
            <a:ext cx="23591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D4A853"/>
                </a:solidFill>
                <a:latin typeface="Microsoft YaHei"/>
                <a:ea typeface="Microsoft YaHei"/>
                <a:cs typeface="Microsoft YaHei"/>
              </a:rPr>
              <a:t>扫码体验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8784" y="5833872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980" b="1">
                <a:solidFill>
                  <a:srgbClr val="9A9A9A"/>
                </a:solidFill>
                <a:latin typeface="Microsoft YaHei"/>
                <a:ea typeface="Microsoft YaHei"/>
                <a:cs typeface="Microsoft YaHei"/>
              </a:rPr>
              <a:t>Railway 在线演示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6053328"/>
            <a:ext cx="30540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800" b="0">
                <a:solidFill>
                  <a:srgbClr val="C8C4BC"/>
                </a:solidFill>
                <a:latin typeface="Microsoft YaHei"/>
                <a:ea typeface="Microsoft YaHei"/>
                <a:cs typeface="Microsoft YaHei"/>
              </a:rPr>
              <a:t>queryforge-production-8d6f.up.railway.app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