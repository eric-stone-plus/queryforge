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F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>
                <a:solidFill>
                  <a:srgbClr val="FFFFFF"/>
                </a:solidFill>
                <a:latin typeface="Arial"/>
                <a:ea typeface="Microsoft YaHei"/>
              </a:rPr>
              <a:t>QueryForge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0175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9A9A9A"/>
                </a:solidFill>
                <a:latin typeface="Arial"/>
                <a:ea typeface="Microsoft YaHei"/>
              </a:rPr>
              <a:t>受治理的自助式商业分析层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A9A9A"/>
                </a:solidFill>
                <a:latin typeface="Arial"/>
                <a:ea typeface="Microsoft YaHei"/>
              </a:rPr>
              <a:t>ClawHunt Builder Camp 2026 · Track C: Business on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3891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4A853"/>
                </a:solidFill>
                <a:latin typeface="Arial"/>
                <a:ea typeface="Microsoft YaHei"/>
              </a:rPr>
              <a:t>通用商业分析工具 · Olist 作为本次 demo 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9436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A9A9A"/>
                </a:solidFill>
                <a:latin typeface="Arial"/>
                <a:ea typeface="Microsoft YaHei"/>
              </a:rPr>
              <a:t>queryforge-production-8d6f.up.railway.app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F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0EEE8"/>
                </a:solidFill>
                <a:latin typeface="Arial"/>
                <a:ea typeface="Microsoft YaHei"/>
              </a:rPr>
              <a:t>业务问题越来越快，报表流程仍然很慢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9144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1500">
                <a:solidFill>
                  <a:srgbClr val="F0EEE8"/>
                </a:solidFill>
                <a:latin typeface="Arial"/>
                <a:ea typeface="Microsoft YaHei"/>
              </a:rPr>
              <a:t>  —  运营问"Sudeste 的 Black Friday 峰值能否复用" → 等排期</a:t>
            </a:r>
          </a:p>
          <a:p>
            <a:pPr algn="l">
              <a:spcAft>
                <a:spcPts val="1400"/>
              </a:spcAft>
            </a:pPr>
            <a:r>
              <a:rPr sz="1500">
                <a:solidFill>
                  <a:srgbClr val="F0EEE8"/>
                </a:solidFill>
                <a:latin typeface="Arial"/>
                <a:ea typeface="Microsoft YaHei"/>
              </a:rPr>
              <a:t>  —  市场问"哪类商品拉动新客" → 临时取数</a:t>
            </a:r>
          </a:p>
          <a:p>
            <a:pPr algn="l">
              <a:spcAft>
                <a:spcPts val="1400"/>
              </a:spcAft>
            </a:pPr>
            <a:r>
              <a:rPr sz="1500">
                <a:solidFill>
                  <a:srgbClr val="F0EEE8"/>
                </a:solidFill>
                <a:latin typeface="Arial"/>
                <a:ea typeface="Microsoft YaHei"/>
              </a:rPr>
              <a:t>  —  老板问"本月下滑是区域、品类还是支付问题" → 加急</a:t>
            </a:r>
          </a:p>
          <a:p>
            <a:pPr algn="l">
              <a:spcAft>
                <a:spcPts val="1400"/>
              </a:spcAft>
            </a:pPr>
            <a:r>
              <a:rPr sz="1500">
                <a:solidFill>
                  <a:srgbClr val="F0EEE8"/>
                </a:solidFill>
                <a:latin typeface="Arial"/>
                <a:ea typeface="Microsoft YaHei"/>
              </a:rPr>
              <a:t>  —  同一指标在不同团队反复解释，口径容易漂移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3891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4A853"/>
                </a:solidFill>
                <a:latin typeface="Arial"/>
                <a:ea typeface="Microsoft YaHei"/>
              </a:rPr>
              <a:t>现代 BI 的核心不是更多图表，而是让决策问题及时进入可信数据流程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9436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A9A9A"/>
                </a:solidFill>
                <a:latin typeface="Arial"/>
                <a:ea typeface="Microsoft YaHei"/>
              </a:rPr>
              <a:t>痛点：业务侧需要速度，数据侧必须保留口径、权限和审计边界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F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0EEE8"/>
                </a:solidFill>
                <a:latin typeface="Arial"/>
                <a:ea typeface="Microsoft YaHei"/>
              </a:rPr>
              <a:t>把分析师经验做成可复用语义层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D4A853"/>
                </a:solidFill>
                <a:latin typeface="Arial"/>
                <a:ea typeface="Microsoft YaHei"/>
              </a:rPr>
              <a:t>Managed self-service BI：核心口径受控，业务侧灵活追问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9144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1500">
                <a:solidFill>
                  <a:srgbClr val="F0EEE8"/>
                </a:solidFill>
                <a:latin typeface="Arial"/>
                <a:ea typeface="Microsoft YaHei"/>
              </a:rPr>
              <a:t>  —  分析师维护指标口径、Join 关系和查询边界</a:t>
            </a:r>
          </a:p>
          <a:p>
            <a:pPr algn="l">
              <a:spcAft>
                <a:spcPts val="1400"/>
              </a:spcAft>
            </a:pPr>
            <a:r>
              <a:rPr sz="1500">
                <a:solidFill>
                  <a:srgbClr val="F0EEE8"/>
                </a:solidFill>
                <a:latin typeface="Arial"/>
                <a:ea typeface="Microsoft YaHei"/>
              </a:rPr>
              <a:t>  —  业务人员用自然语言发起问题，不需要写 SQL</a:t>
            </a:r>
          </a:p>
          <a:p>
            <a:pPr algn="l">
              <a:spcAft>
                <a:spcPts val="1400"/>
              </a:spcAft>
            </a:pPr>
            <a:r>
              <a:rPr sz="1500">
                <a:solidFill>
                  <a:srgbClr val="F0EEE8"/>
                </a:solidFill>
                <a:latin typeface="Arial"/>
                <a:ea typeface="Microsoft YaHei"/>
              </a:rPr>
              <a:t>  —  系统匹配语义层、执行查询、返回图表和解释</a:t>
            </a:r>
          </a:p>
          <a:p>
            <a:pPr algn="l">
              <a:spcAft>
                <a:spcPts val="1400"/>
              </a:spcAft>
            </a:pPr>
            <a:r>
              <a:rPr sz="1500">
                <a:solidFill>
                  <a:srgbClr val="F0EEE8"/>
                </a:solidFill>
                <a:latin typeface="Arial"/>
                <a:ea typeface="Microsoft YaHei"/>
              </a:rPr>
              <a:t>  —  同一指标被复用，减少口径漂移和重复沟通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9436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A9A9A"/>
                </a:solidFill>
                <a:latin typeface="Arial"/>
                <a:ea typeface="Microsoft YaHei"/>
              </a:rPr>
              <a:t>从临时报表交付，变成受治理的自助式分析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F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0EEE8"/>
                </a:solidFill>
                <a:latin typeface="Arial"/>
                <a:ea typeface="Microsoft YaHei"/>
              </a:rPr>
              <a:t>从静态报表到追问式分析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645920"/>
            <a:ext cx="5029200" cy="2011680"/>
          </a:xfrm>
          <a:prstGeom prst="roundRect">
            <a:avLst/>
          </a:prstGeom>
          <a:solidFill>
            <a:srgbClr val="2A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182880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D4A853"/>
                </a:solidFill>
                <a:latin typeface="Arial"/>
                <a:ea typeface="Microsoft YaHei"/>
              </a:rPr>
              <a:t>描述发生了什么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286000"/>
            <a:ext cx="4480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0EEE8"/>
                </a:solidFill>
                <a:latin typeface="Arial"/>
                <a:ea typeface="Microsoft YaHei"/>
              </a:rPr>
              <a:t>"各地区本月营收是多少"
生成图表和明细
按区域、品类、支付方式切换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029200" cy="2011680"/>
          </a:xfrm>
          <a:prstGeom prst="roundRect">
            <a:avLst/>
          </a:prstGeom>
          <a:solidFill>
            <a:srgbClr val="2A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82880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D4A853"/>
                </a:solidFill>
                <a:latin typeface="Arial"/>
                <a:ea typeface="Microsoft YaHei"/>
              </a:rPr>
              <a:t>解释为什么变化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2286000"/>
            <a:ext cx="4480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0EEE8"/>
                </a:solidFill>
                <a:latin typeface="Arial"/>
                <a:ea typeface="Microsoft YaHei"/>
              </a:rPr>
              <a:t>"为什么 Sudeste 冲高后回落"
比较时间、地区、品类、支付
输出可验证的业务假设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3931920"/>
            <a:ext cx="5029200" cy="2011680"/>
          </a:xfrm>
          <a:prstGeom prst="roundRect">
            <a:avLst/>
          </a:prstGeom>
          <a:solidFill>
            <a:srgbClr val="2A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411480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D4A853"/>
                </a:solidFill>
                <a:latin typeface="Arial"/>
                <a:ea typeface="Microsoft YaHei"/>
              </a:rPr>
              <a:t>验证查询可靠性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4572000"/>
            <a:ext cx="4480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0EEE8"/>
                </a:solidFill>
                <a:latin typeface="Arial"/>
                <a:ea typeface="Microsoft YaHei"/>
              </a:rPr>
              <a:t>SQL 先过 AST 安全校验
只读执行，失败自动修正
让错误暴露在流程里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931920"/>
            <a:ext cx="5029200" cy="2011680"/>
          </a:xfrm>
          <a:prstGeom prst="roundRect">
            <a:avLst/>
          </a:prstGeom>
          <a:solidFill>
            <a:srgbClr val="2A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411480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D4A853"/>
                </a:solidFill>
                <a:latin typeface="Arial"/>
                <a:ea typeface="Microsoft YaHei"/>
              </a:rPr>
              <a:t>沉淀指标资产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4572000"/>
            <a:ext cx="4480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0EEE8"/>
                </a:solidFill>
                <a:latin typeface="Arial"/>
                <a:ea typeface="Microsoft YaHei"/>
              </a:rPr>
              <a:t>常用问题变成指标库
业务复用同一语义层
形成 single version of truth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F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0EEE8"/>
                </a:solidFill>
                <a:latin typeface="Arial"/>
                <a:ea typeface="Microsoft YaHei"/>
              </a:rPr>
              <a:t>Demo case：Olist 巴西电商真实数据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D4A853"/>
                </a:solidFill>
                <a:latin typeface="Arial"/>
                <a:ea typeface="Microsoft YaHei"/>
              </a:rPr>
              <a:t>99,441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4688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9A9A9A"/>
                </a:solidFill>
                <a:latin typeface="Arial"/>
                <a:ea typeface="Microsoft YaHei"/>
              </a:rPr>
              <a:t>真实订单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0" y="164592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D4A853"/>
                </a:solidFill>
                <a:latin typeface="Arial"/>
                <a:ea typeface="Microsoft YaHei"/>
              </a:rPr>
              <a:t>96,096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24688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9A9A9A"/>
                </a:solidFill>
                <a:latin typeface="Arial"/>
                <a:ea typeface="Microsoft YaHei"/>
              </a:rPr>
              <a:t>真实用户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0" y="164592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D4A853"/>
                </a:solidFill>
                <a:latin typeface="Arial"/>
                <a:ea typeface="Microsoft YaHei"/>
              </a:rPr>
              <a:t>74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24688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9A9A9A"/>
                </a:solidFill>
                <a:latin typeface="Arial"/>
                <a:ea typeface="Microsoft YaHei"/>
              </a:rPr>
              <a:t>商品品类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2004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D4A853"/>
                </a:solidFill>
                <a:latin typeface="Arial"/>
                <a:ea typeface="Microsoft YaHei"/>
              </a:rPr>
              <a:t>来自 Kaggle 公开数据集，巴西最大电商平台真实交易数据：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657600"/>
            <a:ext cx="914400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1500">
                <a:solidFill>
                  <a:srgbClr val="F0EEE8"/>
                </a:solidFill>
                <a:latin typeface="Arial"/>
                <a:ea typeface="Microsoft YaHei"/>
              </a:rPr>
              <a:t>  —  总营收 R$1,601万 · 客单价 R$161 · 完成率 97% · 复购率 3.1%</a:t>
            </a:r>
          </a:p>
          <a:p>
            <a:pPr algn="l">
              <a:spcAft>
                <a:spcPts val="1400"/>
              </a:spcAft>
            </a:pPr>
            <a:r>
              <a:rPr sz="1500">
                <a:solidFill>
                  <a:srgbClr val="F0EEE8"/>
                </a:solidFill>
                <a:latin typeface="Arial"/>
                <a:ea typeface="Microsoft YaHei"/>
              </a:rPr>
              <a:t>  —  覆盖巴西5大地区，2016-2018年完整时间序列</a:t>
            </a:r>
          </a:p>
          <a:p>
            <a:pPr algn="l">
              <a:spcAft>
                <a:spcPts val="1400"/>
              </a:spcAft>
            </a:pPr>
            <a:r>
              <a:rPr sz="1500">
                <a:solidFill>
                  <a:srgbClr val="F0EEE8"/>
                </a:solidFill>
                <a:latin typeface="Arial"/>
                <a:ea typeface="Microsoft YaHei"/>
              </a:rPr>
              <a:t>  —  数据包含订单、支付、商品、评价、物流全链路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9436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A9A9A"/>
                </a:solidFill>
                <a:latin typeface="Arial"/>
                <a:ea typeface="Microsoft YaHei"/>
              </a:rPr>
              <a:t>Olist Brazilian E-Commerce Public Dataset · Kaggle 最受欢迎电商数据集之一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F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0EEE8"/>
                </a:solidFill>
                <a:latin typeface="Arial"/>
                <a:ea typeface="Microsoft YaHei"/>
              </a:rPr>
              <a:t>Agent 的位置：把业务问题变成可治理查询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645920"/>
            <a:ext cx="3383280" cy="4114800"/>
          </a:xfrm>
          <a:prstGeom prst="roundRect">
            <a:avLst/>
          </a:prstGeom>
          <a:solidFill>
            <a:srgbClr val="2A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182880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D4A853"/>
                </a:solidFill>
                <a:latin typeface="Arial"/>
                <a:ea typeface="Microsoft YaHei"/>
              </a:rPr>
              <a:t>统一语义层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286000"/>
            <a:ext cx="28346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0EEE8"/>
                </a:solidFill>
                <a:latin typeface="Arial"/>
                <a:ea typeface="Microsoft YaHei"/>
              </a:rPr>
              <a:t>业务语言 → 指标定义 → SQL
不靠 LLM 临时猜表名
分析师定义一次，全公司复用
避免每次重新解释口径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80560" y="1645920"/>
            <a:ext cx="3383280" cy="4114800"/>
          </a:xfrm>
          <a:prstGeom prst="roundRect">
            <a:avLst/>
          </a:prstGeom>
          <a:solidFill>
            <a:srgbClr val="2A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0" y="182880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D4A853"/>
                </a:solidFill>
                <a:latin typeface="Arial"/>
                <a:ea typeface="Microsoft YaHei"/>
              </a:rPr>
              <a:t>验证式 Agent 循环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2286000"/>
            <a:ext cx="28346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0EEE8"/>
                </a:solidFill>
                <a:latin typeface="Arial"/>
                <a:ea typeface="Microsoft YaHei"/>
              </a:rPr>
              <a:t>理解问题 → 生成 SQL → AST 验证
只读执行 → 读结果 → 可视化
自纠正：出错自动修正重试
把取数变成可交互分析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1645920"/>
            <a:ext cx="3383280" cy="4114800"/>
          </a:xfrm>
          <a:prstGeom prst="roundRect">
            <a:avLst/>
          </a:prstGeom>
          <a:solidFill>
            <a:srgbClr val="2A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0" y="182880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D4A853"/>
                </a:solidFill>
                <a:latin typeface="Arial"/>
                <a:ea typeface="Microsoft YaHei"/>
              </a:rPr>
              <a:t>执行与治理边界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0" y="2286000"/>
            <a:ext cx="28346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0EEE8"/>
                </a:solidFill>
                <a:latin typeface="Arial"/>
                <a:ea typeface="Microsoft YaHei"/>
              </a:rPr>
              <a:t>Schema-only 模型暴露
只读数据库连接
AST 级 SQL 安全校验
审计日志 + RBAC 路线图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9436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A9A9A"/>
                </a:solidFill>
                <a:latin typeface="Arial"/>
                <a:ea typeface="Microsoft YaHei"/>
              </a:rPr>
              <a:t>必要性：业务问题需要解释、验证和追问；单纯 SQL 生成无法承担治理责任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F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0EEE8"/>
                </a:solidFill>
                <a:latin typeface="Arial"/>
                <a:ea typeface="Microsoft YaHei"/>
              </a:rPr>
              <a:t>数据合规设计 — 企业买家最关心的问题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914400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1500">
                <a:solidFill>
                  <a:srgbClr val="F0EEE8"/>
                </a:solidFill>
                <a:latin typeface="Arial"/>
                <a:ea typeface="Microsoft YaHei"/>
              </a:rPr>
              <a:t>  —  Schema-only 模型暴露：LLM 只看到表名和列名，永远不接触原始数据</a:t>
            </a:r>
          </a:p>
          <a:p>
            <a:pPr algn="l">
              <a:spcAft>
                <a:spcPts val="1400"/>
              </a:spcAft>
            </a:pPr>
            <a:r>
              <a:rPr sz="1500">
                <a:solidFill>
                  <a:srgbClr val="F0EEE8"/>
                </a:solidFill>
                <a:latin typeface="Arial"/>
                <a:ea typeface="Microsoft YaHei"/>
              </a:rPr>
              <a:t>  —  AST 级 SQL 验证：用 node-sql-parser 解析 SQL 语法树，只允许 SELECT 查询</a:t>
            </a:r>
          </a:p>
          <a:p>
            <a:pPr algn="l">
              <a:spcAft>
                <a:spcPts val="1400"/>
              </a:spcAft>
            </a:pPr>
            <a:r>
              <a:rPr sz="1500">
                <a:solidFill>
                  <a:srgbClr val="F0EEE8"/>
                </a:solidFill>
                <a:latin typeface="Arial"/>
                <a:ea typeface="Microsoft YaHei"/>
              </a:rPr>
              <a:t>  —  只读数据库连接：数据库层面配置 readonly 模式，即使代码有漏洞也无法写入</a:t>
            </a:r>
          </a:p>
          <a:p>
            <a:pPr algn="l">
              <a:spcAft>
                <a:spcPts val="1400"/>
              </a:spcAft>
            </a:pPr>
            <a:r>
              <a:rPr sz="1500">
                <a:solidFill>
                  <a:srgbClr val="F0EEE8"/>
                </a:solidFill>
                <a:latin typeface="Arial"/>
                <a:ea typeface="Microsoft YaHei"/>
              </a:rPr>
              <a:t>  —  自动 LIMIT 注入：LLM 忘记加 LIMIT 时自动补全，防止全表扫描</a:t>
            </a:r>
          </a:p>
          <a:p>
            <a:pPr algn="l">
              <a:spcAft>
                <a:spcPts val="1400"/>
              </a:spcAft>
            </a:pPr>
            <a:r>
              <a:rPr sz="1500">
                <a:solidFill>
                  <a:srgbClr val="F0EEE8"/>
                </a:solidFill>
                <a:latin typeface="Arial"/>
                <a:ea typeface="Microsoft YaHei"/>
              </a:rPr>
              <a:t>  —  生产路线图：行级安全（RLS）、PII 脱敏、审计日志、SSO/SAML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7548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4A853"/>
                </a:solidFill>
                <a:latin typeface="Arial"/>
                <a:ea typeface="Microsoft YaHei"/>
              </a:rPr>
              <a:t>同样的架构模式：Snowflake Cortex、Databricks AI/BI 都采用'Schema-only + 只读执行'方案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9436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A9A9A"/>
                </a:solidFill>
                <a:latin typeface="Arial"/>
                <a:ea typeface="Microsoft YaHei"/>
              </a:rPr>
              <a:t>QueryForge 不给 LLM 数据库权限 · AI 生成 SQL，数据库执行查询，策略引擎控制访问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F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0EEE8"/>
                </a:solidFill>
                <a:latin typeface="Arial"/>
                <a:ea typeface="Microsoft YaHei"/>
              </a:rPr>
              <a:t>商业化路径：受治理的自助分析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645920"/>
            <a:ext cx="5029200" cy="1828800"/>
          </a:xfrm>
          <a:prstGeom prst="roundRect">
            <a:avLst/>
          </a:prstGeom>
          <a:solidFill>
            <a:srgbClr val="2A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182880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D4A853"/>
                </a:solidFill>
                <a:latin typeface="Arial"/>
                <a:ea typeface="Microsoft YaHei"/>
              </a:rPr>
              <a:t>Phase 1: 可售 MVP（1-2周）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286000"/>
            <a:ext cx="4480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0EEE8"/>
                </a:solidFill>
                <a:latin typeface="Arial"/>
                <a:ea typeface="Microsoft YaHei"/>
              </a:rPr>
              <a:t>SQLite → PostgreSQL 迁移
NextAuth.js 用户认证
语义层：指标定义 + Join 图
审计日志 + 基础 RBAC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029200" cy="1828800"/>
          </a:xfrm>
          <a:prstGeom prst="roundRect">
            <a:avLst/>
          </a:prstGeom>
          <a:solidFill>
            <a:srgbClr val="2A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82880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D4A853"/>
                </a:solidFill>
                <a:latin typeface="Arial"/>
                <a:ea typeface="Microsoft YaHei"/>
              </a:rPr>
              <a:t>Phase 2: 企业试用（1-2月）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2286000"/>
            <a:ext cx="4480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0EEE8"/>
                </a:solidFill>
                <a:latin typeface="Arial"/>
                <a:ea typeface="Microsoft YaHei"/>
              </a:rPr>
              <a:t>SSO/SAML 集成
行级安全 + PII 脱敏
多数据源：PostgreSQL/BigQuery
查询成本控制 + 取消机制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3749039"/>
            <a:ext cx="5029200" cy="1828800"/>
          </a:xfrm>
          <a:prstGeom prst="roundRect">
            <a:avLst/>
          </a:prstGeom>
          <a:solidFill>
            <a:srgbClr val="2A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3931919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D4A853"/>
                </a:solidFill>
                <a:latin typeface="Arial"/>
                <a:ea typeface="Microsoft YaHei"/>
              </a:rPr>
              <a:t>Phase 3: 规模化（3-6月）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4389119"/>
            <a:ext cx="4480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0EEE8"/>
                </a:solidFill>
                <a:latin typeface="Arial"/>
                <a:ea typeface="Microsoft YaHei"/>
              </a:rPr>
              <a:t>Snowflake/Redshift/ClickHouse
dbt 语义层集成
指标认证 + 谱系追踪
VPC 部署 + BYOM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749039"/>
            <a:ext cx="5029200" cy="1828800"/>
          </a:xfrm>
          <a:prstGeom prst="roundRect">
            <a:avLst/>
          </a:prstGeom>
          <a:solidFill>
            <a:srgbClr val="2A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3931919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D4A853"/>
                </a:solidFill>
                <a:latin typeface="Arial"/>
                <a:ea typeface="Microsoft YaHei"/>
              </a:rPr>
              <a:t>商业模型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4389119"/>
            <a:ext cx="4480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0EEE8"/>
                </a:solidFill>
                <a:latin typeface="Arial"/>
                <a:ea typeface="Microsoft YaHei"/>
              </a:rPr>
              <a:t>目标客户：数据团队、运营、市场
付费点：席位、查询量、私有部署
价值指标：请求周转时间、口径复用率
从 MVP 到企业版：3 个月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F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0EEE8"/>
                </a:solidFill>
                <a:latin typeface="Arial"/>
                <a:ea typeface="Microsoft YaHei"/>
              </a:rPr>
              <a:t>商业价值：自助速度 + 治理可信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645920"/>
            <a:ext cx="5029200" cy="3657600"/>
          </a:xfrm>
          <a:prstGeom prst="roundRect">
            <a:avLst/>
          </a:prstGeom>
          <a:solidFill>
            <a:srgbClr val="2A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182880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D4A853"/>
                </a:solidFill>
                <a:latin typeface="Arial"/>
                <a:ea typeface="Microsoft YaHei"/>
              </a:rPr>
              <a:t>数据团队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286000"/>
            <a:ext cx="44805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0EEE8"/>
                </a:solidFill>
                <a:latin typeface="Arial"/>
                <a:ea typeface="Microsoft YaHei"/>
              </a:rPr>
              <a:t>减少重复取数和口径解释
把精力放在语义层与治理
统一指标资产，降低审计成本
保留权限、血缘和执行边界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029200" cy="3657600"/>
          </a:xfrm>
          <a:prstGeom prst="roundRect">
            <a:avLst/>
          </a:prstGeom>
          <a:solidFill>
            <a:srgbClr val="2A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82880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D4A853"/>
                </a:solidFill>
                <a:latin typeface="Arial"/>
                <a:ea typeface="Microsoft YaHei"/>
              </a:rPr>
              <a:t>业务团队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2286000"/>
            <a:ext cx="44805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0EEE8"/>
                </a:solidFill>
                <a:latin typeface="Arial"/>
                <a:ea typeface="Microsoft YaHei"/>
              </a:rPr>
              <a:t>不用排队等临时报表
围绕同一数据连续追问
在销售、投放、品类上更快试错
从看结果转向做决策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9436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A9A9A"/>
                </a:solidFill>
                <a:latin typeface="Arial"/>
                <a:ea typeface="Microsoft YaHei"/>
              </a:rPr>
              <a:t>不是替代分析师，而是把分析师定义的标准放进业务日常决策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F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>
                <a:solidFill>
                  <a:srgbClr val="FFFFFF"/>
                </a:solidFill>
                <a:latin typeface="Arial"/>
                <a:ea typeface="Microsoft YaHei"/>
              </a:rPr>
              <a:t>QueryForge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0175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9A9A9A"/>
                </a:solidFill>
                <a:latin typeface="Arial"/>
                <a:ea typeface="Microsoft YaHei"/>
              </a:rPr>
              <a:t>受治理的自助式商业分析层
核心口径由分析师定义，业务问题由 Agent 转成可信查询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389120"/>
            <a:ext cx="74980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4A853"/>
                </a:solidFill>
                <a:latin typeface="Arial"/>
                <a:ea typeface="Microsoft YaHei"/>
              </a:rPr>
              <a:t>queryforge-production-8d6f.up.railway.app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846320"/>
            <a:ext cx="74980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A9A9A"/>
                </a:solidFill>
                <a:latin typeface="Arial"/>
                <a:ea typeface="Microsoft YaHei"/>
              </a:rPr>
              <a:t>github.com/eric-stone-plus/QueryForge</a:t>
            </a:r>
          </a:p>
        </p:txBody>
      </p:sp>
      <p:pic>
        <p:nvPicPr>
          <p:cNvPr id="6" name="Picture 5" descr="qr-railw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2600" y="3063240"/>
            <a:ext cx="1508760" cy="1508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235440" y="4681728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A9A9A"/>
                </a:solidFill>
                <a:latin typeface="Arial"/>
                <a:ea typeface="Microsoft YaHei"/>
              </a:rPr>
              <a:t>手机扫码体验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9436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A9A9A"/>
                </a:solidFill>
                <a:latin typeface="Arial"/>
                <a:ea typeface="Microsoft YaHei"/>
              </a:rPr>
              <a:t>ClawHunt Builder Camp 2026 · Track C: Business on 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