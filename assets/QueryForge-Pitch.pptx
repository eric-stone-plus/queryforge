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B300"/>
                </a:solidFill>
                <a:latin typeface="Microsoft YaHei"/>
              </a:defRPr>
            </a:pPr>
            <a:r>
              <a:t>QueryForge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83464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让业务部门自己拿数据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解放数据分析师的重复需求，业务团队用自然语言自助取数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Microsoft YaHei"/>
              </a:defRPr>
            </a:pPr>
            <a:r>
              <a:t>ClawHunt Builder Camp 2026 · Track A</a:t>
            </a:r>
          </a:p>
        </p:txBody>
      </p:sp>
      <p:pic>
        <p:nvPicPr>
          <p:cNvPr id="7" name="Picture 6" descr="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2860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数据分析师的困境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80%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691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EC5"/>
                </a:solidFill>
                <a:latin typeface="Microsoft YaHei"/>
              </a:defRPr>
            </a:pPr>
            <a:r>
              <a:t>数据分析师的时间花在重复取数上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5029200" cy="329184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50800" cy="32918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95600"/>
            <a:ext cx="4480560" cy="2987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分析师的一天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「帮我拉一下上个月各地区的 GMV」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「口径改一下，要按下单时间不是支付时间」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「再加一个退货率的列」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1">
                <a:solidFill>
                  <a:srgbClr val="FF6B6B"/>
                </a:solidFill>
                <a:latin typeface="Microsoft YaHei"/>
              </a:defRPr>
            </a:pPr>
            <a:r>
              <a:t>每天 2-3 小时在重复拉报表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43200"/>
            <a:ext cx="5029200" cy="329184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50800" cy="3291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895600"/>
            <a:ext cx="4480560" cy="2987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业务团队的一天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周一提需求，周三还没拿到数据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拿到数据发现字段不对，又要重来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一个简单报表，改了 5 版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1">
                <a:solidFill>
                  <a:srgbClr val="2196F3"/>
                </a:solidFill>
                <a:latin typeface="Microsoft YaHei"/>
              </a:defRPr>
            </a:pPr>
            <a:r>
              <a:t>排期等待 1-3 天是常态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分析师建指标，业务自助取数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300"/>
                </a:solidFill>
                <a:latin typeface="Microsoft YaHei"/>
              </a:defRPr>
            </a:pPr>
            <a:r>
              <a:t>从「取数工具人」到「数据架构师」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2560320" cy="292608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50800" cy="292608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9840"/>
            <a:ext cx="2011680" cy="262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FFB300"/>
                </a:solidFill>
                <a:latin typeface="Microsoft YaHei"/>
              </a:defRPr>
            </a:pPr>
            <a:r>
              <a:t>01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分析师定义指标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调整底层数据、定义指标口径、配置看板</a:t>
            </a:r>
            <a:br/>
            <a:r>
              <a:t>——一次性工作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2640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EC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8728" y="2377440"/>
            <a:ext cx="2560320" cy="292608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38728" y="2377440"/>
            <a:ext cx="50800" cy="2926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3048" y="2529840"/>
            <a:ext cx="2011680" cy="262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2196F3"/>
                </a:solidFill>
                <a:latin typeface="Microsoft YaHei"/>
              </a:defRPr>
            </a:pPr>
            <a:r>
              <a:t>02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业务用自然语言提问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用中文描述需求</a:t>
            </a:r>
            <a:br/>
            <a:r>
              <a:t>像和同事说话一样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984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EC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5936" y="2377440"/>
            <a:ext cx="2560320" cy="292608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45936" y="2377440"/>
            <a:ext cx="50800" cy="2926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529840"/>
            <a:ext cx="2011680" cy="262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2196F3"/>
                </a:solidFill>
                <a:latin typeface="Microsoft YaHei"/>
              </a:defRPr>
            </a:pPr>
            <a:r>
              <a:t>03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系统自动生成图表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理解意图，自动匹配数据源</a:t>
            </a:r>
            <a:br/>
            <a:r>
              <a:t>生成可视化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7056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EC5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53144" y="2377440"/>
            <a:ext cx="2560320" cy="292608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53144" y="2377440"/>
            <a:ext cx="50800" cy="2926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27464" y="2529840"/>
            <a:ext cx="2011680" cy="262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4CAF50"/>
                </a:solidFill>
                <a:latin typeface="Microsoft YaHei"/>
              </a:defRPr>
            </a:pPr>
            <a:r>
              <a:t>04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异常自动预警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图表、异常提示、决策建议</a:t>
            </a:r>
            <a:br/>
            <a:r>
              <a:t>一次定义，无限次查询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分析师从此不再反复拉报表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从提问到看板，10 秒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74720" cy="41148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98320"/>
            <a:ext cx="292608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FFB300"/>
                </a:solidFill>
                <a:latin typeface="Microsoft YaHei"/>
              </a:defRPr>
            </a:pPr>
            <a:r>
              <a:t>基础查询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「各地区月度销售额趋势」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8 地区 × 12 个月折线图</a:t>
            </a:r>
          </a:p>
          <a:p>
            <a:pPr algn="l">
              <a:spcAft>
                <a:spcPts val="84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B300"/>
                </a:solidFill>
                <a:latin typeface="Microsoft YaHei"/>
              </a:defRPr>
            </a:pPr>
            <a:r>
              <a:t>复杂分析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「哪个品类利润率最高？」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品类利润率排名柱状图</a:t>
            </a:r>
          </a:p>
          <a:p>
            <a:pPr algn="l">
              <a:spcAft>
                <a:spcPts val="84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B300"/>
                </a:solidFill>
                <a:latin typeface="Microsoft YaHei"/>
              </a:defRPr>
            </a:pPr>
            <a:r>
              <a:t>自由提问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「复购率最高的用户是谁？」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用户复购排名表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1200" y="1595120"/>
            <a:ext cx="4216400" cy="4216400"/>
          </a:xfrm>
          <a:prstGeom prst="rect">
            <a:avLst/>
          </a:prstGeom>
          <a:solidFill>
            <a:srgbClr val="2A3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45920"/>
            <a:ext cx="411480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144000" y="1645920"/>
            <a:ext cx="2560320" cy="41148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0" y="1645920"/>
            <a:ext cx="50800" cy="41148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1798320"/>
            <a:ext cx="201168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2196F3"/>
                </a:solidFill>
                <a:latin typeface="Microsoft YaHei"/>
              </a:defRPr>
            </a:pPr>
            <a:r>
              <a:t>核心卖点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— 不需要懂任何技术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— 自然语言提问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— 自动选择图表类型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— 指标可保存复用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— 一键刷新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icrosoft YaHei"/>
              </a:defRPr>
            </a:pPr>
            <a:r>
              <a:t>真实数据：10,000 笔订单 · 500 商品 · 8 地区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用数据说话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210312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98320"/>
            <a:ext cx="457200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从 3 天到 10 秒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取数时间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业务不再排期等待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210312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98320"/>
            <a:ext cx="457200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释放 80%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重复工作时间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转向深度分析和策略支持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114800"/>
            <a:ext cx="5120640" cy="210312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67200"/>
            <a:ext cx="457200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10,000 笔订单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8 地区覆盖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真实企业级数据量验证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114800"/>
            <a:ext cx="5120640" cy="210312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267200"/>
            <a:ext cx="457200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一次定义</a:t>
            </a:r>
          </a:p>
          <a:p>
            <a:pPr algn="l">
              <a:spcAft>
                <a:spcPts val="84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无限次查询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口径统一，不再反复对齐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怎么赚钱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98320"/>
            <a:ext cx="448056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800" b="1">
                <a:solidFill>
                  <a:srgbClr val="FFB300"/>
                </a:solidFill>
                <a:latin typeface="Microsoft YaHei"/>
              </a:defRPr>
            </a:pPr>
            <a:r>
              <a:t>SaaS 订阅制定价</a:t>
            </a:r>
          </a:p>
          <a:p>
            <a:pPr algn="l">
              <a:spcAft>
                <a:spcPts val="84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团队版  ¥299/月/团队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最多 10 人，50 个指标</a:t>
            </a:r>
          </a:p>
          <a:p>
            <a:pPr algn="l">
              <a:spcAft>
                <a:spcPts val="84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企业版  ¥999/月/团队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无限人数，无限指标，私有部署</a:t>
            </a:r>
          </a:p>
          <a:p>
            <a:pPr algn="l">
              <a:spcAft>
                <a:spcPts val="84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目标客户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有数据团队但业务侧频繁提需求的中型企业（100-1000 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50800" cy="41148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98320"/>
            <a:ext cx="448056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800" b="1">
                <a:solidFill>
                  <a:srgbClr val="2196F3"/>
                </a:solidFill>
                <a:latin typeface="Microsoft YaHei"/>
              </a:defRPr>
            </a:pPr>
            <a:r>
              <a:t>获客漏斗</a:t>
            </a:r>
          </a:p>
          <a:p>
            <a:pPr algn="l">
              <a:spcAft>
                <a:spcPts val="84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分析师注册试用</a:t>
            </a:r>
          </a:p>
          <a:p>
            <a:pPr algn="l">
              <a:spcAft>
                <a:spcPts val="840"/>
              </a:spcAft>
              <a:defRPr sz="1600" b="0">
                <a:solidFill>
                  <a:srgbClr val="B0BEC5"/>
                </a:solidFill>
                <a:latin typeface="Microsoft YaHei"/>
              </a:defRPr>
            </a:pPr>
            <a:r>
              <a:t>   ↓</a:t>
            </a: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团队日常使用</a:t>
            </a:r>
          </a:p>
          <a:p>
            <a:pPr algn="l">
              <a:spcAft>
                <a:spcPts val="840"/>
              </a:spcAft>
              <a:defRPr sz="1600" b="0">
                <a:solidFill>
                  <a:srgbClr val="B0BEC5"/>
                </a:solidFill>
                <a:latin typeface="Microsoft YaHei"/>
              </a:defRPr>
            </a:pPr>
            <a:r>
              <a:t>   ↓</a:t>
            </a:r>
          </a:p>
          <a:p>
            <a:pPr algn="l">
              <a:spcAft>
                <a:spcPts val="84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企业级采购</a:t>
            </a:r>
          </a:p>
          <a:p>
            <a:pPr algn="l">
              <a:spcAft>
                <a:spcPts val="84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留存逻辑</a:t>
            </a: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指标一旦定义，迁移成本高，自然锁定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Microsoft YaHei"/>
              </a:defRPr>
            </a:pPr>
            <a:r>
              <a:t>核心壁垒：指标资产沉淀 + 口径标准化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市场机会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291840" cy="27432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98320"/>
            <a:ext cx="2743200" cy="243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2196F3"/>
                </a:solidFill>
                <a:latin typeface="Microsoft YaHei"/>
              </a:defRPr>
            </a:pPr>
            <a:r>
              <a:t>TAM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¥500 亿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中国商业智能与数据分析市场（2025）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645920"/>
            <a:ext cx="3291840" cy="27432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798320"/>
            <a:ext cx="2743200" cy="243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2196F3"/>
                </a:solidFill>
                <a:latin typeface="Microsoft YaHei"/>
              </a:defRPr>
            </a:pPr>
            <a:r>
              <a:t>SAM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¥80 亿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中小企业自助分析工具市场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645920"/>
            <a:ext cx="3291840" cy="27432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98320"/>
            <a:ext cx="2743200" cy="243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2196F3"/>
                </a:solidFill>
                <a:latin typeface="Microsoft YaHei"/>
              </a:defRPr>
            </a:pPr>
            <a:r>
              <a:t>SOM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¥2 亿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300" b="0">
                <a:solidFill>
                  <a:srgbClr val="B0BEC5"/>
                </a:solidFill>
                <a:latin typeface="Microsoft YaHei"/>
              </a:defRPr>
            </a:pPr>
            <a:r>
              <a:t>首年目标：500 个付费团队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607040" cy="13716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754880"/>
            <a:ext cx="50800" cy="13716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07280"/>
            <a:ext cx="100584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增长趋势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— 企业数据量每年增长 40%+          — 数据分析人才缺口持续扩大          — 自助式 BI 市场 CAGR 25%+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团队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36576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98320"/>
            <a:ext cx="4480560" cy="335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产品 &amp; 技术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全栈开发能力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AI 应用落地经验</a:t>
            </a:r>
          </a:p>
          <a:p>
            <a:pPr algn="l">
              <a:spcAft>
                <a:spcPts val="84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质量保障</a:t>
            </a:r>
          </a:p>
          <a:p>
            <a:pPr algn="l">
              <a:spcAft>
                <a:spcPts val="84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QUINTE 五方对抗审查方法论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5 个 AI 互相挑刺，消除盲区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3657600"/>
          </a:xfrm>
          <a:prstGeom prst="rect">
            <a:avLst/>
          </a:prstGeom>
          <a:solidFill>
            <a:srgbClr val="1F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50800" cy="36576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98320"/>
            <a:ext cx="4480560" cy="335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  <a:defRPr sz="1800" b="1">
                <a:solidFill>
                  <a:srgbClr val="FFB300"/>
                </a:solidFill>
                <a:latin typeface="Microsoft YaHei"/>
              </a:defRPr>
            </a:pPr>
            <a:r>
              <a:t>执行力亮点</a:t>
            </a:r>
          </a:p>
          <a:p>
            <a:pPr algn="l">
              <a:spcAft>
                <a:spcPts val="84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4800" b="1">
                <a:solidFill>
                  <a:srgbClr val="FFB300"/>
                </a:solidFill>
                <a:latin typeface="Microsoft YaHei"/>
              </a:defRPr>
            </a:pPr>
            <a:r>
              <a:t>3 天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从痛点发现到产品上线</a:t>
            </a:r>
          </a:p>
          <a:p>
            <a:pPr algn="l">
              <a:spcAft>
                <a:spcPts val="840"/>
              </a:spcAft>
              <a:defRPr sz="10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— 独创 QUINTE 对抗审查体系</a:t>
            </a:r>
          </a:p>
          <a:p>
            <a:pPr algn="l">
              <a:spcAft>
                <a:spcPts val="840"/>
              </a:spcAft>
              <a:defRPr sz="1400" b="0">
                <a:solidFill>
                  <a:srgbClr val="B0BEC5"/>
                </a:solidFill>
                <a:latin typeface="Microsoft YaHei"/>
              </a:defRPr>
            </a:pPr>
            <a:r>
              <a:t>— 用最小成本验证了产品可行性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Microsoft YaHei"/>
              </a:defRPr>
            </a:pPr>
            <a:r>
              <a:t>ClawHunt Builder Camp 2026 · 3 天从 0 到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B300"/>
                </a:solidFill>
                <a:latin typeface="Microsoft YaHei"/>
              </a:defRPr>
            </a:pPr>
            <a:r>
              <a:t>QueryForge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017520"/>
            <a:ext cx="2743200" cy="381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让数据分析师做分析师该做的事，让业务自己拿到数据。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96F3"/>
                </a:solidFill>
                <a:latin typeface="Microsoft YaHei"/>
              </a:defRPr>
            </a:pPr>
            <a:r>
              <a:t>queryforge-production-8d6f.up.railway.app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96F3"/>
                </a:solidFill>
                <a:latin typeface="Microsoft YaHei"/>
              </a:defRPr>
            </a:pPr>
            <a:r>
              <a:t>github.com/eric-stone-plus/queryforge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Microsoft YaHei"/>
              </a:defRPr>
            </a:pPr>
            <a:r>
              <a:t>ClawHunt Builder Camp 2026 · Track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